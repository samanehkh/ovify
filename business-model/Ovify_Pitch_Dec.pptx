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 Bold Italics" charset="1" panose="020F0702030404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9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40392" y="-2745343"/>
            <a:ext cx="7549696" cy="7549696"/>
            <a:chOff x="0" y="0"/>
            <a:chExt cx="10066261" cy="10066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85735" y="6177029"/>
            <a:ext cx="4804353" cy="4804353"/>
            <a:chOff x="0" y="0"/>
            <a:chExt cx="6405804" cy="64058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5880" cy="6405880"/>
            </a:xfrm>
            <a:custGeom>
              <a:avLst/>
              <a:gdLst/>
              <a:ahLst/>
              <a:cxnLst/>
              <a:rect r="r" b="b" t="t" l="l"/>
              <a:pathLst>
                <a:path h="6405880" w="6405880">
                  <a:moveTo>
                    <a:pt x="0" y="3202940"/>
                  </a:moveTo>
                  <a:cubicBezTo>
                    <a:pt x="0" y="1433957"/>
                    <a:pt x="1433957" y="0"/>
                    <a:pt x="3202940" y="0"/>
                  </a:cubicBezTo>
                  <a:cubicBezTo>
                    <a:pt x="4971923" y="0"/>
                    <a:pt x="6405880" y="1433957"/>
                    <a:pt x="6405880" y="3202940"/>
                  </a:cubicBezTo>
                  <a:cubicBezTo>
                    <a:pt x="6405880" y="4971923"/>
                    <a:pt x="4971923" y="6405880"/>
                    <a:pt x="3202940" y="6405880"/>
                  </a:cubicBezTo>
                  <a:cubicBezTo>
                    <a:pt x="1433957" y="6405880"/>
                    <a:pt x="0" y="4971796"/>
                    <a:pt x="0" y="3202940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6774" y="1642672"/>
            <a:ext cx="1629537" cy="1647206"/>
            <a:chOff x="0" y="0"/>
            <a:chExt cx="2172716" cy="2196274"/>
          </a:xfrm>
        </p:grpSpPr>
        <p:sp>
          <p:nvSpPr>
            <p:cNvPr name="Freeform 7" id="7" descr="Logo-BlueBackground.jpg"/>
            <p:cNvSpPr/>
            <p:nvPr/>
          </p:nvSpPr>
          <p:spPr>
            <a:xfrm flipH="false" flipV="false" rot="0">
              <a:off x="0" y="0"/>
              <a:ext cx="2172716" cy="2196338"/>
            </a:xfrm>
            <a:custGeom>
              <a:avLst/>
              <a:gdLst/>
              <a:ahLst/>
              <a:cxnLst/>
              <a:rect r="r" b="b" t="t" l="l"/>
              <a:pathLst>
                <a:path h="2196338" w="2172716">
                  <a:moveTo>
                    <a:pt x="0" y="0"/>
                  </a:moveTo>
                  <a:lnTo>
                    <a:pt x="2172716" y="0"/>
                  </a:lnTo>
                  <a:lnTo>
                    <a:pt x="2172716" y="2196338"/>
                  </a:lnTo>
                  <a:lnTo>
                    <a:pt x="0" y="2196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6774" y="2956502"/>
            <a:ext cx="319117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9"/>
              </a:lnSpc>
            </a:pPr>
            <a:r>
              <a:rPr lang="en-US" sz="9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OVIFY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774" y="4838805"/>
            <a:ext cx="13726725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5000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AI-Powered IVF Patient Adherence &amp; Clinic Support Ecosystem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6774" y="6502251"/>
            <a:ext cx="13726725" cy="44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451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Keeping IVF patients on track, on time, and supported through every cycle.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6774" y="8424843"/>
            <a:ext cx="15099392" cy="118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87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UAE-Born Innovation in Reproductive Health  |  Hub71 Initiate Application</a:t>
            </a:r>
          </a:p>
          <a:p>
            <a:pPr algn="l">
              <a:lnSpc>
                <a:spcPts val="2702"/>
              </a:lnSpc>
            </a:pPr>
            <a:r>
              <a:rPr lang="en-US" sz="187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Founder: Samaneh Khaleghi  ·  Abu Dhabi, UAE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Executive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 solves an expensive, everyday IVF problem using targeted, compliant AI.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60872" y="2522353"/>
            <a:ext cx="16334804" cy="171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3"/>
              </a:lnSpc>
            </a:pPr>
            <a:r>
              <a:rPr lang="en-US" sz="217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During an IVF cycle, patients administer confusing injections at home for weeks. Between visits, clinics have zero visibility. A single missed or mis-timed dose can cancel a </a:t>
            </a:r>
            <a:r>
              <a:rPr lang="en-US" sz="2176" b="true">
                <a:solidFill>
                  <a:srgbClr val="1320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cycle worth up to 55,000 AED</a:t>
            </a:r>
            <a:r>
              <a:rPr lang="en-US" sz="217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. Globally, </a:t>
            </a:r>
            <a:r>
              <a:rPr lang="en-US" sz="2176" b="true">
                <a:solidFill>
                  <a:srgbClr val="1320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54% to 65% of patients drop out</a:t>
            </a:r>
            <a:r>
              <a:rPr lang="en-US" sz="217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. </a:t>
            </a:r>
          </a:p>
          <a:p>
            <a:pPr algn="l">
              <a:lnSpc>
                <a:spcPts val="3003"/>
              </a:lnSpc>
            </a:pPr>
          </a:p>
          <a:p>
            <a:pPr algn="l">
              <a:lnSpc>
                <a:spcPts val="4383"/>
              </a:lnSpc>
            </a:pPr>
            <a:r>
              <a:rPr lang="en-US" sz="317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Ovify bridges this gap with an AI-prioritised ecosystem.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872" y="4392549"/>
            <a:ext cx="4611954" cy="4255284"/>
            <a:chOff x="0" y="0"/>
            <a:chExt cx="6149272" cy="5673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49361" cy="5673725"/>
            </a:xfrm>
            <a:custGeom>
              <a:avLst/>
              <a:gdLst/>
              <a:ahLst/>
              <a:cxnLst/>
              <a:rect r="r" b="b" t="t" l="l"/>
              <a:pathLst>
                <a:path h="5673725" w="6149361">
                  <a:moveTo>
                    <a:pt x="0" y="283718"/>
                  </a:moveTo>
                  <a:cubicBezTo>
                    <a:pt x="0" y="127000"/>
                    <a:pt x="110831" y="0"/>
                    <a:pt x="247597" y="0"/>
                  </a:cubicBezTo>
                  <a:lnTo>
                    <a:pt x="5901753" y="0"/>
                  </a:lnTo>
                  <a:cubicBezTo>
                    <a:pt x="6038519" y="0"/>
                    <a:pt x="6149361" y="127000"/>
                    <a:pt x="6149361" y="283718"/>
                  </a:cubicBezTo>
                  <a:lnTo>
                    <a:pt x="6149361" y="5390007"/>
                  </a:lnTo>
                  <a:cubicBezTo>
                    <a:pt x="6149361" y="5546725"/>
                    <a:pt x="6038519" y="5673725"/>
                    <a:pt x="5901753" y="5673725"/>
                  </a:cubicBezTo>
                  <a:lnTo>
                    <a:pt x="247597" y="5673725"/>
                  </a:lnTo>
                  <a:cubicBezTo>
                    <a:pt x="110831" y="5673725"/>
                    <a:pt x="0" y="5546725"/>
                    <a:pt x="0" y="53900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58376" y="4804353"/>
            <a:ext cx="686333" cy="686333"/>
            <a:chOff x="0" y="0"/>
            <a:chExt cx="915111" cy="915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3233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2567" y="4932093"/>
            <a:ext cx="411804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376" y="5689025"/>
            <a:ext cx="3933009" cy="4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Patient Web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376" y="6325781"/>
            <a:ext cx="3933009" cy="150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Step-by-step injection visual timers, automated alarms, and an AI companion answering common questions in English/Arabic instantly. Saves hospital support lines from basic calls.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25226" y="4383014"/>
            <a:ext cx="4606260" cy="4255284"/>
            <a:chOff x="0" y="0"/>
            <a:chExt cx="6141680" cy="56737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41769" cy="5673725"/>
            </a:xfrm>
            <a:custGeom>
              <a:avLst/>
              <a:gdLst/>
              <a:ahLst/>
              <a:cxnLst/>
              <a:rect r="r" b="b" t="t" l="l"/>
              <a:pathLst>
                <a:path h="5673725" w="6141769">
                  <a:moveTo>
                    <a:pt x="0" y="283718"/>
                  </a:moveTo>
                  <a:cubicBezTo>
                    <a:pt x="0" y="127000"/>
                    <a:pt x="110694" y="0"/>
                    <a:pt x="247291" y="0"/>
                  </a:cubicBezTo>
                  <a:lnTo>
                    <a:pt x="5894467" y="0"/>
                  </a:lnTo>
                  <a:cubicBezTo>
                    <a:pt x="6031063" y="0"/>
                    <a:pt x="6141769" y="127000"/>
                    <a:pt x="6141769" y="283718"/>
                  </a:cubicBezTo>
                  <a:lnTo>
                    <a:pt x="6141769" y="5390007"/>
                  </a:lnTo>
                  <a:cubicBezTo>
                    <a:pt x="6141769" y="5546725"/>
                    <a:pt x="6031063" y="5673725"/>
                    <a:pt x="5894467" y="5673725"/>
                  </a:cubicBezTo>
                  <a:lnTo>
                    <a:pt x="247291" y="5673725"/>
                  </a:lnTo>
                  <a:cubicBezTo>
                    <a:pt x="110694" y="5673725"/>
                    <a:pt x="0" y="5546725"/>
                    <a:pt x="0" y="53900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89558" y="4794818"/>
            <a:ext cx="686333" cy="686333"/>
            <a:chOff x="0" y="0"/>
            <a:chExt cx="915111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3233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336348" y="4922558"/>
            <a:ext cx="411804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89558" y="5679491"/>
            <a:ext cx="3934439" cy="4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Support Sync App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89558" y="6350024"/>
            <a:ext cx="3779513" cy="121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Keeps support companions informed with daily cues on how and when to support, synchronizing tasks to decrease the patient's emotional workload.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87559" y="4383014"/>
            <a:ext cx="6886279" cy="4274353"/>
            <a:chOff x="0" y="0"/>
            <a:chExt cx="9181705" cy="56991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81769" cy="5699125"/>
            </a:xfrm>
            <a:custGeom>
              <a:avLst/>
              <a:gdLst/>
              <a:ahLst/>
              <a:cxnLst/>
              <a:rect r="r" b="b" t="t" l="l"/>
              <a:pathLst>
                <a:path h="5699125" w="9181769">
                  <a:moveTo>
                    <a:pt x="0" y="284988"/>
                  </a:moveTo>
                  <a:cubicBezTo>
                    <a:pt x="0" y="127635"/>
                    <a:pt x="165715" y="0"/>
                    <a:pt x="370015" y="0"/>
                  </a:cubicBezTo>
                  <a:lnTo>
                    <a:pt x="8811773" y="0"/>
                  </a:lnTo>
                  <a:cubicBezTo>
                    <a:pt x="9016073" y="0"/>
                    <a:pt x="9181769" y="127635"/>
                    <a:pt x="9181769" y="284988"/>
                  </a:cubicBezTo>
                  <a:lnTo>
                    <a:pt x="9181769" y="5414137"/>
                  </a:lnTo>
                  <a:cubicBezTo>
                    <a:pt x="9181769" y="5571490"/>
                    <a:pt x="9016073" y="5699125"/>
                    <a:pt x="8811773" y="5699125"/>
                  </a:cubicBezTo>
                  <a:lnTo>
                    <a:pt x="370015" y="5699125"/>
                  </a:lnTo>
                  <a:cubicBezTo>
                    <a:pt x="165715" y="5699125"/>
                    <a:pt x="0" y="5571490"/>
                    <a:pt x="0" y="5414137"/>
                  </a:cubicBezTo>
                  <a:close/>
                </a:path>
              </a:pathLst>
            </a:custGeom>
            <a:solidFill>
              <a:srgbClr val="F5F3FF"/>
            </a:solidFill>
            <a:ln w="19065" cap="sq">
              <a:solidFill>
                <a:srgbClr val="9E8CE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756367" y="4804353"/>
            <a:ext cx="696070" cy="686333"/>
            <a:chOff x="0" y="0"/>
            <a:chExt cx="928094" cy="91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8145" cy="915162"/>
            </a:xfrm>
            <a:custGeom>
              <a:avLst/>
              <a:gdLst/>
              <a:ahLst/>
              <a:cxnLst/>
              <a:rect r="r" b="b" t="t" l="l"/>
              <a:pathLst>
                <a:path h="915162" w="928145">
                  <a:moveTo>
                    <a:pt x="0" y="457581"/>
                  </a:moveTo>
                  <a:cubicBezTo>
                    <a:pt x="0" y="204851"/>
                    <a:pt x="207757" y="0"/>
                    <a:pt x="464073" y="0"/>
                  </a:cubicBezTo>
                  <a:cubicBezTo>
                    <a:pt x="720388" y="0"/>
                    <a:pt x="928145" y="204851"/>
                    <a:pt x="928145" y="457581"/>
                  </a:cubicBezTo>
                  <a:cubicBezTo>
                    <a:pt x="928145" y="710311"/>
                    <a:pt x="720388" y="915162"/>
                    <a:pt x="464073" y="915162"/>
                  </a:cubicBezTo>
                  <a:cubicBezTo>
                    <a:pt x="207757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847826" y="4932093"/>
            <a:ext cx="513154" cy="36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19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56367" y="5689025"/>
            <a:ext cx="6196142" cy="41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Clinic Dashboard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56367" y="6292874"/>
            <a:ext cx="6196142" cy="149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3"/>
              </a:lnSpc>
            </a:pPr>
            <a:r>
              <a:rPr lang="en-US" sz="2199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Uses an AI model to analyse patient logging latency and sentiment check-ins, ranking patients dynamically by cycle-dropout risk so nurses can intervene 48 hours before an injection window is missed.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0872" y="9639243"/>
            <a:ext cx="16334804" cy="22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75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Source/Verification:  WHO Infertility statistics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3" id="3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608078"/>
            <a:ext cx="7313314" cy="1853108"/>
            <a:chOff x="0" y="0"/>
            <a:chExt cx="9751086" cy="2470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51076" cy="2470912"/>
            </a:xfrm>
            <a:custGeom>
              <a:avLst/>
              <a:gdLst/>
              <a:ahLst/>
              <a:cxnLst/>
              <a:rect r="r" b="b" t="t" l="l"/>
              <a:pathLst>
                <a:path h="2470912" w="9751076">
                  <a:moveTo>
                    <a:pt x="0" y="123571"/>
                  </a:moveTo>
                  <a:cubicBezTo>
                    <a:pt x="0" y="55372"/>
                    <a:pt x="40974" y="0"/>
                    <a:pt x="91439" y="0"/>
                  </a:cubicBezTo>
                  <a:lnTo>
                    <a:pt x="9659638" y="0"/>
                  </a:lnTo>
                  <a:cubicBezTo>
                    <a:pt x="9710103" y="0"/>
                    <a:pt x="9751076" y="55372"/>
                    <a:pt x="9751076" y="123571"/>
                  </a:cubicBezTo>
                  <a:lnTo>
                    <a:pt x="9751076" y="2347341"/>
                  </a:lnTo>
                  <a:cubicBezTo>
                    <a:pt x="9751076" y="2415540"/>
                    <a:pt x="9710103" y="2470912"/>
                    <a:pt x="9659638" y="2470912"/>
                  </a:cubicBezTo>
                  <a:lnTo>
                    <a:pt x="91439" y="2470912"/>
                  </a:lnTo>
                  <a:cubicBezTo>
                    <a:pt x="40974" y="2470912"/>
                    <a:pt x="0" y="2415540"/>
                    <a:pt x="0" y="23473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3692" y="4667088"/>
            <a:ext cx="7218322" cy="1853108"/>
            <a:chOff x="0" y="0"/>
            <a:chExt cx="9624430" cy="2470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24420" cy="2470912"/>
            </a:xfrm>
            <a:custGeom>
              <a:avLst/>
              <a:gdLst/>
              <a:ahLst/>
              <a:cxnLst/>
              <a:rect r="r" b="b" t="t" l="l"/>
              <a:pathLst>
                <a:path h="2470912" w="9624420">
                  <a:moveTo>
                    <a:pt x="0" y="123571"/>
                  </a:moveTo>
                  <a:cubicBezTo>
                    <a:pt x="0" y="55372"/>
                    <a:pt x="40441" y="0"/>
                    <a:pt x="90251" y="0"/>
                  </a:cubicBezTo>
                  <a:lnTo>
                    <a:pt x="9534169" y="0"/>
                  </a:lnTo>
                  <a:cubicBezTo>
                    <a:pt x="9583979" y="0"/>
                    <a:pt x="9624420" y="55372"/>
                    <a:pt x="9624420" y="123571"/>
                  </a:cubicBezTo>
                  <a:lnTo>
                    <a:pt x="9624420" y="2347341"/>
                  </a:lnTo>
                  <a:cubicBezTo>
                    <a:pt x="9624420" y="2415540"/>
                    <a:pt x="9583979" y="2470912"/>
                    <a:pt x="9534169" y="2470912"/>
                  </a:cubicBezTo>
                  <a:lnTo>
                    <a:pt x="90251" y="2470912"/>
                  </a:lnTo>
                  <a:cubicBezTo>
                    <a:pt x="40441" y="2470912"/>
                    <a:pt x="0" y="2415540"/>
                    <a:pt x="0" y="23473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6726098"/>
            <a:ext cx="7313314" cy="1853108"/>
            <a:chOff x="0" y="0"/>
            <a:chExt cx="9751086" cy="24708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1076" cy="2470912"/>
            </a:xfrm>
            <a:custGeom>
              <a:avLst/>
              <a:gdLst/>
              <a:ahLst/>
              <a:cxnLst/>
              <a:rect r="r" b="b" t="t" l="l"/>
              <a:pathLst>
                <a:path h="2470912" w="9751076">
                  <a:moveTo>
                    <a:pt x="0" y="123571"/>
                  </a:moveTo>
                  <a:cubicBezTo>
                    <a:pt x="0" y="55372"/>
                    <a:pt x="40974" y="0"/>
                    <a:pt x="91439" y="0"/>
                  </a:cubicBezTo>
                  <a:lnTo>
                    <a:pt x="9659638" y="0"/>
                  </a:lnTo>
                  <a:cubicBezTo>
                    <a:pt x="9710103" y="0"/>
                    <a:pt x="9751076" y="55372"/>
                    <a:pt x="9751076" y="123571"/>
                  </a:cubicBezTo>
                  <a:lnTo>
                    <a:pt x="9751076" y="2347341"/>
                  </a:lnTo>
                  <a:cubicBezTo>
                    <a:pt x="9751076" y="2415540"/>
                    <a:pt x="9710103" y="2470912"/>
                    <a:pt x="9659638" y="2470912"/>
                  </a:cubicBezTo>
                  <a:lnTo>
                    <a:pt x="91439" y="2470912"/>
                  </a:lnTo>
                  <a:cubicBezTo>
                    <a:pt x="40974" y="2470912"/>
                    <a:pt x="0" y="2415540"/>
                    <a:pt x="0" y="234734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19070" y="2568588"/>
            <a:ext cx="9182207" cy="6219008"/>
            <a:chOff x="0" y="0"/>
            <a:chExt cx="12242942" cy="82920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42810" cy="8291879"/>
            </a:xfrm>
            <a:custGeom>
              <a:avLst/>
              <a:gdLst/>
              <a:ahLst/>
              <a:cxnLst/>
              <a:rect r="r" b="b" t="t" l="l"/>
              <a:pathLst>
                <a:path h="8291879" w="12242810">
                  <a:moveTo>
                    <a:pt x="0" y="414541"/>
                  </a:moveTo>
                  <a:cubicBezTo>
                    <a:pt x="0" y="185578"/>
                    <a:pt x="264868" y="0"/>
                    <a:pt x="591657" y="0"/>
                  </a:cubicBezTo>
                  <a:lnTo>
                    <a:pt x="11651152" y="0"/>
                  </a:lnTo>
                  <a:cubicBezTo>
                    <a:pt x="11977942" y="0"/>
                    <a:pt x="12242810" y="185578"/>
                    <a:pt x="12242810" y="414541"/>
                  </a:cubicBezTo>
                  <a:lnTo>
                    <a:pt x="12242810" y="7877339"/>
                  </a:lnTo>
                  <a:cubicBezTo>
                    <a:pt x="12242810" y="8106301"/>
                    <a:pt x="11977942" y="8291879"/>
                    <a:pt x="11651152" y="8291879"/>
                  </a:cubicBezTo>
                  <a:lnTo>
                    <a:pt x="591657" y="8291879"/>
                  </a:lnTo>
                  <a:cubicBezTo>
                    <a:pt x="264868" y="8292011"/>
                    <a:pt x="0" y="8106433"/>
                    <a:pt x="0" y="7877470"/>
                  </a:cubicBezTo>
                  <a:close/>
                </a:path>
              </a:pathLst>
            </a:custGeom>
            <a:blipFill>
              <a:blip r:embed="rId3">
                <a:alphaModFix amt="28000"/>
              </a:blip>
              <a:stretch>
                <a:fillRect l="-33973" t="-1515" r="0" b="-8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The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1511894"/>
            <a:ext cx="15099392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IVF treatment is overwhelming, manual, and disconnected.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7237" y="2747305"/>
            <a:ext cx="685623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101">
                <a:solidFill>
                  <a:srgbClr val="1320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Patients: High Emotional &amp; Cognitive Burden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7237" y="3237262"/>
            <a:ext cx="6159067" cy="9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Confusing medication regimens, self-injection anxiety, and a total lack of structured real-time support between weekly clinic check-ins.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7237" y="4806315"/>
            <a:ext cx="685623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101">
                <a:solidFill>
                  <a:srgbClr val="1320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Support: Willing but Left Out of the Loop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237" y="5296271"/>
            <a:ext cx="6159067" cy="9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companions feel invisible and disconnected, with no guidance on how to offer physical or emotional support during critical injection windows.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7237" y="6865325"/>
            <a:ext cx="685623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b="true" sz="2101">
                <a:solidFill>
                  <a:srgbClr val="1320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Nurses: Burned Out &amp; Overloaded with Admin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7237" y="7355281"/>
            <a:ext cx="6159067" cy="9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Clinical coordinators spend up to 15 hours every week manually chasing patient compliance logs via phone calls and disorganized WhatsApp chats.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73566" y="2858383"/>
            <a:ext cx="500040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0"/>
              </a:lnSpc>
            </a:pPr>
            <a:r>
              <a:rPr lang="en-US" b="true" sz="4500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54% - 65%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2396" y="3570517"/>
            <a:ext cx="4551576" cy="74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6"/>
              </a:lnSpc>
            </a:pPr>
            <a:r>
              <a:rPr lang="en-US" sz="2126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IVF patient dropout rate before completing cycles.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73868" y="4658678"/>
            <a:ext cx="4772740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0"/>
              </a:lnSpc>
            </a:pPr>
            <a:r>
              <a:rPr lang="en-US" b="true" sz="4500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30,000 - 55,000 AED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55239" y="5597316"/>
            <a:ext cx="4318732" cy="74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6"/>
              </a:lnSpc>
            </a:pPr>
            <a:r>
              <a:rPr lang="en-US" sz="2126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Cost to the patient when a single cycle is cancelled due to a missed injection.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73566" y="6583223"/>
            <a:ext cx="5000405" cy="82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940"/>
              </a:lnSpc>
            </a:pPr>
            <a:r>
              <a:rPr lang="en-US" b="true" sz="4500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Hours / Week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9788" y="7450423"/>
            <a:ext cx="4406820" cy="748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6"/>
              </a:lnSpc>
            </a:pPr>
            <a:r>
              <a:rPr lang="en-US" sz="2126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Spent by each nurse manager on manual patient tracking.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872" y="9639243"/>
            <a:ext cx="163348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75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Source/Verification: ESHRE / Human Reproduction Journal; UAE Clinical Pricing Benchmarks (2026)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2222396" y="4601488"/>
            <a:ext cx="4323910" cy="0"/>
          </a:xfrm>
          <a:prstGeom prst="line">
            <a:avLst/>
          </a:prstGeom>
          <a:ln cap="flat" w="28575">
            <a:solidFill>
              <a:srgbClr val="9E8CE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2111814" y="6671159"/>
            <a:ext cx="4323910" cy="0"/>
          </a:xfrm>
          <a:prstGeom prst="line">
            <a:avLst/>
          </a:prstGeom>
          <a:ln cap="flat" w="28575">
            <a:solidFill>
              <a:srgbClr val="9E8CEF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823603" y="2813980"/>
            <a:ext cx="274539" cy="274539"/>
            <a:chOff x="0" y="0"/>
            <a:chExt cx="366052" cy="3660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3603" y="4868961"/>
            <a:ext cx="274539" cy="274539"/>
            <a:chOff x="0" y="0"/>
            <a:chExt cx="366052" cy="3660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3603" y="6924675"/>
            <a:ext cx="274539" cy="274539"/>
            <a:chOff x="0" y="0"/>
            <a:chExt cx="366052" cy="3660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Market Opportunity &amp; Growth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Unprecedented regional demand coupled with supportive regulatory changes.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08078"/>
            <a:ext cx="9608706" cy="1921745"/>
            <a:chOff x="0" y="0"/>
            <a:chExt cx="12811608" cy="25623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1633" cy="2562352"/>
            </a:xfrm>
            <a:custGeom>
              <a:avLst/>
              <a:gdLst/>
              <a:ahLst/>
              <a:cxnLst/>
              <a:rect r="r" b="b" t="t" l="l"/>
              <a:pathLst>
                <a:path h="2562352" w="128116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2683490" y="0"/>
                  </a:lnTo>
                  <a:cubicBezTo>
                    <a:pt x="12754229" y="0"/>
                    <a:pt x="12811633" y="57404"/>
                    <a:pt x="12811633" y="128143"/>
                  </a:cubicBezTo>
                  <a:lnTo>
                    <a:pt x="12811633" y="2434209"/>
                  </a:lnTo>
                  <a:cubicBezTo>
                    <a:pt x="12811633" y="2504948"/>
                    <a:pt x="12754229" y="2562352"/>
                    <a:pt x="12683490" y="2562352"/>
                  </a:cubicBezTo>
                  <a:lnTo>
                    <a:pt x="128143" y="2562352"/>
                  </a:lnTo>
                  <a:cubicBezTo>
                    <a:pt x="57404" y="2562352"/>
                    <a:pt x="0" y="2504948"/>
                    <a:pt x="0" y="24342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2608078"/>
            <a:ext cx="164725" cy="1921745"/>
            <a:chOff x="0" y="0"/>
            <a:chExt cx="219634" cy="2562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583" cy="2562352"/>
            </a:xfrm>
            <a:custGeom>
              <a:avLst/>
              <a:gdLst/>
              <a:ahLst/>
              <a:cxnLst/>
              <a:rect r="r" b="b" t="t" l="l"/>
              <a:pathLst>
                <a:path h="2562352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2676" y="2747305"/>
            <a:ext cx="8785108" cy="5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in 6 Adults Affected Globally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2676" y="3237262"/>
            <a:ext cx="8785108" cy="6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WHO estimates that infertility affects 17.5% of the adult population, driving a massive increase in clinical demand.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0872" y="4735716"/>
            <a:ext cx="9608706" cy="1921745"/>
            <a:chOff x="0" y="0"/>
            <a:chExt cx="12811608" cy="25623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1633" cy="2562352"/>
            </a:xfrm>
            <a:custGeom>
              <a:avLst/>
              <a:gdLst/>
              <a:ahLst/>
              <a:cxnLst/>
              <a:rect r="r" b="b" t="t" l="l"/>
              <a:pathLst>
                <a:path h="2562352" w="128116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2683490" y="0"/>
                  </a:lnTo>
                  <a:cubicBezTo>
                    <a:pt x="12754229" y="0"/>
                    <a:pt x="12811633" y="57404"/>
                    <a:pt x="12811633" y="128143"/>
                  </a:cubicBezTo>
                  <a:lnTo>
                    <a:pt x="12811633" y="2434209"/>
                  </a:lnTo>
                  <a:cubicBezTo>
                    <a:pt x="12811633" y="2504948"/>
                    <a:pt x="12754229" y="2562352"/>
                    <a:pt x="12683490" y="2562352"/>
                  </a:cubicBezTo>
                  <a:lnTo>
                    <a:pt x="128143" y="2562352"/>
                  </a:lnTo>
                  <a:cubicBezTo>
                    <a:pt x="57404" y="2562352"/>
                    <a:pt x="0" y="2504948"/>
                    <a:pt x="0" y="24342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872" y="4735716"/>
            <a:ext cx="164725" cy="1921745"/>
            <a:chOff x="0" y="0"/>
            <a:chExt cx="219634" cy="25623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562352"/>
            </a:xfrm>
            <a:custGeom>
              <a:avLst/>
              <a:gdLst/>
              <a:ahLst/>
              <a:cxnLst/>
              <a:rect r="r" b="b" t="t" l="l"/>
              <a:pathLst>
                <a:path h="2562352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72676" y="4874943"/>
            <a:ext cx="8785108" cy="5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UAE: Regional IVF Hub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2676" y="5364909"/>
            <a:ext cx="8785108" cy="6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18,000 to 20,000 IVF cycles are performed annually in the UAE alone, valued at $294M to $310M. High out-of-pocket spending.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72" y="6863363"/>
            <a:ext cx="9608706" cy="1921745"/>
            <a:chOff x="0" y="0"/>
            <a:chExt cx="12811608" cy="25623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11633" cy="2562352"/>
            </a:xfrm>
            <a:custGeom>
              <a:avLst/>
              <a:gdLst/>
              <a:ahLst/>
              <a:cxnLst/>
              <a:rect r="r" b="b" t="t" l="l"/>
              <a:pathLst>
                <a:path h="2562352" w="12811633">
                  <a:moveTo>
                    <a:pt x="0" y="128143"/>
                  </a:moveTo>
                  <a:cubicBezTo>
                    <a:pt x="0" y="57404"/>
                    <a:pt x="57404" y="0"/>
                    <a:pt x="128143" y="0"/>
                  </a:cubicBezTo>
                  <a:lnTo>
                    <a:pt x="12683490" y="0"/>
                  </a:lnTo>
                  <a:cubicBezTo>
                    <a:pt x="12754229" y="0"/>
                    <a:pt x="12811633" y="57404"/>
                    <a:pt x="12811633" y="128143"/>
                  </a:cubicBezTo>
                  <a:lnTo>
                    <a:pt x="12811633" y="2434209"/>
                  </a:lnTo>
                  <a:cubicBezTo>
                    <a:pt x="12811633" y="2504948"/>
                    <a:pt x="12754229" y="2562352"/>
                    <a:pt x="12683490" y="2562352"/>
                  </a:cubicBezTo>
                  <a:lnTo>
                    <a:pt x="128143" y="2562352"/>
                  </a:lnTo>
                  <a:cubicBezTo>
                    <a:pt x="57404" y="2562352"/>
                    <a:pt x="0" y="2504948"/>
                    <a:pt x="0" y="243420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872" y="6863363"/>
            <a:ext cx="164725" cy="1921745"/>
            <a:chOff x="0" y="0"/>
            <a:chExt cx="219634" cy="25623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562352"/>
            </a:xfrm>
            <a:custGeom>
              <a:avLst/>
              <a:gdLst/>
              <a:ahLst/>
              <a:cxnLst/>
              <a:rect r="r" b="b" t="t" l="l"/>
              <a:pathLst>
                <a:path h="2562352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72676" y="7002589"/>
            <a:ext cx="8785108" cy="5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GCC Growth Trajectory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676" y="7492546"/>
            <a:ext cx="8785108" cy="62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2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The GCC IVF market size is valued at USD 1.13B in 2024, projected to grow to USD 1.68B by 2030 (6.7% CAGR).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981382" y="2608078"/>
            <a:ext cx="6314294" cy="6177029"/>
            <a:chOff x="0" y="0"/>
            <a:chExt cx="8419059" cy="82360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9084" cy="8236077"/>
            </a:xfrm>
            <a:custGeom>
              <a:avLst/>
              <a:gdLst/>
              <a:ahLst/>
              <a:cxnLst/>
              <a:rect r="r" b="b" t="t" l="l"/>
              <a:pathLst>
                <a:path h="8236077" w="8419084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8007223" y="0"/>
                  </a:lnTo>
                  <a:cubicBezTo>
                    <a:pt x="8234680" y="0"/>
                    <a:pt x="8419084" y="184404"/>
                    <a:pt x="8419084" y="411861"/>
                  </a:cubicBezTo>
                  <a:lnTo>
                    <a:pt x="8419084" y="7824216"/>
                  </a:lnTo>
                  <a:cubicBezTo>
                    <a:pt x="8419084" y="8051673"/>
                    <a:pt x="8234680" y="8236077"/>
                    <a:pt x="8007223" y="8236077"/>
                  </a:cubicBezTo>
                  <a:lnTo>
                    <a:pt x="411861" y="8236077"/>
                  </a:lnTo>
                  <a:cubicBezTo>
                    <a:pt x="184404" y="8236077"/>
                    <a:pt x="0" y="8051673"/>
                    <a:pt x="0" y="78242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393176" y="2815933"/>
            <a:ext cx="5490686" cy="61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GCC IVF Market Size (USD Billion)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79390" y="2992426"/>
            <a:ext cx="6918269" cy="5545597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1393186" y="8360991"/>
            <a:ext cx="5490686" cy="59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beachhead expansion: Abu Dhabi (Y1) -&gt; Dubai (Y2) -&gt; Saudi Arabia (Y3)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0872" y="9639243"/>
            <a:ext cx="163348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75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Source/Verification: WHO Research; Grand View Research; IMARC (2025/2026)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3" id="3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1933" y="2608078"/>
            <a:ext cx="8154932" cy="6621275"/>
            <a:chOff x="0" y="0"/>
            <a:chExt cx="10873242" cy="88283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73332" cy="8828405"/>
            </a:xfrm>
            <a:custGeom>
              <a:avLst/>
              <a:gdLst/>
              <a:ahLst/>
              <a:cxnLst/>
              <a:rect r="r" b="b" t="t" l="l"/>
              <a:pathLst>
                <a:path h="8828405" w="10873332">
                  <a:moveTo>
                    <a:pt x="0" y="441482"/>
                  </a:moveTo>
                  <a:cubicBezTo>
                    <a:pt x="0" y="197666"/>
                    <a:pt x="219106" y="0"/>
                    <a:pt x="489366" y="0"/>
                  </a:cubicBezTo>
                  <a:lnTo>
                    <a:pt x="10383982" y="0"/>
                  </a:lnTo>
                  <a:cubicBezTo>
                    <a:pt x="10654242" y="0"/>
                    <a:pt x="10873332" y="197666"/>
                    <a:pt x="10873332" y="441482"/>
                  </a:cubicBezTo>
                  <a:lnTo>
                    <a:pt x="10873332" y="8386926"/>
                  </a:lnTo>
                  <a:cubicBezTo>
                    <a:pt x="10873332" y="8630741"/>
                    <a:pt x="10654242" y="8828405"/>
                    <a:pt x="10383982" y="8828405"/>
                  </a:cubicBezTo>
                  <a:lnTo>
                    <a:pt x="489366" y="8828405"/>
                  </a:lnTo>
                  <a:cubicBezTo>
                    <a:pt x="219106" y="8828405"/>
                    <a:pt x="0" y="8630741"/>
                    <a:pt x="0" y="83869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564574"/>
            <a:ext cx="8608165" cy="206602"/>
            <a:chOff x="0" y="0"/>
            <a:chExt cx="9151150" cy="219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51112" cy="219583"/>
            </a:xfrm>
            <a:custGeom>
              <a:avLst/>
              <a:gdLst/>
              <a:ahLst/>
              <a:cxnLst/>
              <a:rect r="r" b="b" t="t" l="l"/>
              <a:pathLst>
                <a:path h="219583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FAABA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86218" y="2690441"/>
            <a:ext cx="7295215" cy="5525855"/>
            <a:chOff x="0" y="0"/>
            <a:chExt cx="13547863" cy="10262005"/>
          </a:xfrm>
        </p:grpSpPr>
        <p:sp>
          <p:nvSpPr>
            <p:cNvPr name="Freeform 11" id="11" descr="ovify_complete_ecosystem.png"/>
            <p:cNvSpPr/>
            <p:nvPr/>
          </p:nvSpPr>
          <p:spPr>
            <a:xfrm flipH="false" flipV="false" rot="0">
              <a:off x="0" y="0"/>
              <a:ext cx="13547875" cy="10262017"/>
            </a:xfrm>
            <a:custGeom>
              <a:avLst/>
              <a:gdLst/>
              <a:ahLst/>
              <a:cxnLst/>
              <a:rect r="r" b="b" t="t" l="l"/>
              <a:pathLst>
                <a:path h="10262017" w="13547875">
                  <a:moveTo>
                    <a:pt x="752736" y="0"/>
                  </a:moveTo>
                  <a:lnTo>
                    <a:pt x="12795139" y="0"/>
                  </a:lnTo>
                  <a:cubicBezTo>
                    <a:pt x="12994777" y="0"/>
                    <a:pt x="13186239" y="79306"/>
                    <a:pt x="13327404" y="220471"/>
                  </a:cubicBezTo>
                  <a:cubicBezTo>
                    <a:pt x="13468570" y="361637"/>
                    <a:pt x="13547875" y="553098"/>
                    <a:pt x="13547875" y="752736"/>
                  </a:cubicBezTo>
                  <a:lnTo>
                    <a:pt x="13547875" y="9509281"/>
                  </a:lnTo>
                  <a:cubicBezTo>
                    <a:pt x="13547875" y="9925006"/>
                    <a:pt x="13210863" y="10262017"/>
                    <a:pt x="12795139" y="10262017"/>
                  </a:cubicBezTo>
                  <a:lnTo>
                    <a:pt x="752736" y="10262017"/>
                  </a:lnTo>
                  <a:cubicBezTo>
                    <a:pt x="553098" y="10262017"/>
                    <a:pt x="361637" y="10182711"/>
                    <a:pt x="220471" y="10041546"/>
                  </a:cubicBezTo>
                  <a:cubicBezTo>
                    <a:pt x="79306" y="9900380"/>
                    <a:pt x="0" y="9708919"/>
                    <a:pt x="0" y="9509281"/>
                  </a:cubicBezTo>
                  <a:lnTo>
                    <a:pt x="0" y="752736"/>
                  </a:lnTo>
                  <a:cubicBezTo>
                    <a:pt x="0" y="553098"/>
                    <a:pt x="79306" y="361637"/>
                    <a:pt x="220471" y="220471"/>
                  </a:cubicBezTo>
                  <a:cubicBezTo>
                    <a:pt x="361637" y="79306"/>
                    <a:pt x="553098" y="0"/>
                    <a:pt x="75273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009" r="0" b="-16009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3047401"/>
            <a:ext cx="419425" cy="5732139"/>
          </a:xfrm>
          <a:custGeom>
            <a:avLst/>
            <a:gdLst/>
            <a:ahLst/>
            <a:cxnLst/>
            <a:rect r="r" b="b" t="t" l="l"/>
            <a:pathLst>
              <a:path h="5732139" w="419425">
                <a:moveTo>
                  <a:pt x="0" y="0"/>
                </a:moveTo>
                <a:lnTo>
                  <a:pt x="419425" y="0"/>
                </a:lnTo>
                <a:lnTo>
                  <a:pt x="419425" y="5732139"/>
                </a:lnTo>
                <a:lnTo>
                  <a:pt x="0" y="5732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0872" y="484356"/>
            <a:ext cx="15099392" cy="76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The Solution &amp; Process 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 real-time clinical loop running on friction-free, app-store-independent PWAs.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60772" y="8292496"/>
            <a:ext cx="6612213" cy="35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917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Friction-Free Onboarding (PWA)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60772" y="8727958"/>
            <a:ext cx="6612213" cy="50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00" i="true">
                <a:solidFill>
                  <a:srgbClr val="13203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• No App Store Dependency</a:t>
            </a:r>
          </a:p>
          <a:p>
            <a:pPr algn="l">
              <a:lnSpc>
                <a:spcPts val="1932"/>
              </a:lnSpc>
            </a:pPr>
            <a:r>
              <a:rPr lang="en-US" sz="1400" i="true">
                <a:solidFill>
                  <a:srgbClr val="132035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• 100% Onboarding Success: Eliminates clinic IT delays, compatibility issues, etc...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1933" y="3660931"/>
            <a:ext cx="384353" cy="32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8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872" y="9639243"/>
            <a:ext cx="163348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75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Source/Verification: PWA &amp; AI Architecture Specification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16395" y="33831"/>
            <a:ext cx="6343235" cy="72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  <a:spcBef>
                <a:spcPct val="0"/>
              </a:spcBef>
            </a:pPr>
          </a:p>
          <a:p>
            <a:pPr algn="ctr">
              <a:lnSpc>
                <a:spcPts val="2774"/>
              </a:lnSpc>
              <a:spcBef>
                <a:spcPct val="0"/>
              </a:spcBef>
            </a:pPr>
            <a:r>
              <a:rPr lang="en-US" sz="2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Step 3: Change "AI Alerts Clinic" to 3.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4109" y="2905919"/>
            <a:ext cx="7733031" cy="85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</a:pPr>
            <a:r>
              <a:rPr lang="en-US" sz="1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Voice &amp; Text Onboarding:</a:t>
            </a: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2244"/>
              </a:lnSpc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Nur</a:t>
            </a: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ses dictate or paste medication protocols; AI parses and builds the patient timeline in 90 seconds.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4109" y="3858169"/>
            <a:ext cx="7454165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Instant Patient Onboarding: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receives a secure WhatsApp/SMS link; installs app to homescreen instantly.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9835" y="4697512"/>
            <a:ext cx="7454165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Companion Sync: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Companion is invited; calendars sync and coordination prompts align automatically.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9835" y="5580007"/>
            <a:ext cx="7454165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Interactive Guidance: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Daily timers alert patient; step-by-step visual guides verify syringe preparation.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4109" y="6466975"/>
            <a:ext cx="7454165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almSeed Companion (RAG):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chats with a medical Explainer; daily check-ins monitor psychological distress.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4109" y="7465233"/>
            <a:ext cx="7454165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Predictive Triage Engine:</a:t>
            </a: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Logging latencies and sentiment anomalies trigger risk ranking on the dashboard.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8383" y="8331219"/>
            <a:ext cx="7469891" cy="58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b="true" sz="1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Nurse Priority Intervention:</a:t>
            </a: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244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Coordinator triages high-risk patients proactively to prevent dropouts before failures.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Patient &amp; Support Companion Apps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Integrated, AI-powered mobile tools that turn confusing protocols into clear, guided tasks.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08078"/>
            <a:ext cx="7549696" cy="6650222"/>
            <a:chOff x="0" y="0"/>
            <a:chExt cx="10066261" cy="8866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351" cy="8867001"/>
            </a:xfrm>
            <a:custGeom>
              <a:avLst/>
              <a:gdLst/>
              <a:ahLst/>
              <a:cxnLst/>
              <a:rect r="r" b="b" t="t" l="l"/>
              <a:pathLst>
                <a:path h="8867001" w="10066351">
                  <a:moveTo>
                    <a:pt x="0" y="443412"/>
                  </a:moveTo>
                  <a:cubicBezTo>
                    <a:pt x="0" y="198530"/>
                    <a:pt x="202844" y="0"/>
                    <a:pt x="453047" y="0"/>
                  </a:cubicBezTo>
                  <a:lnTo>
                    <a:pt x="9613312" y="0"/>
                  </a:lnTo>
                  <a:cubicBezTo>
                    <a:pt x="9863514" y="0"/>
                    <a:pt x="10066351" y="198530"/>
                    <a:pt x="10066351" y="443412"/>
                  </a:cubicBezTo>
                  <a:lnTo>
                    <a:pt x="10066351" y="8423592"/>
                  </a:lnTo>
                  <a:cubicBezTo>
                    <a:pt x="10066351" y="8668472"/>
                    <a:pt x="9863514" y="8867001"/>
                    <a:pt x="9613312" y="8867001"/>
                  </a:cubicBezTo>
                  <a:lnTo>
                    <a:pt x="453047" y="8867001"/>
                  </a:lnTo>
                  <a:cubicBezTo>
                    <a:pt x="202844" y="8867001"/>
                    <a:pt x="0" y="8668472"/>
                    <a:pt x="0" y="84235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2591606"/>
            <a:ext cx="7549696" cy="181198"/>
            <a:chOff x="0" y="0"/>
            <a:chExt cx="9151150" cy="2196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51112" cy="219583"/>
            </a:xfrm>
            <a:custGeom>
              <a:avLst/>
              <a:gdLst/>
              <a:ahLst/>
              <a:cxnLst/>
              <a:rect r="r" b="b" t="t" l="l"/>
              <a:pathLst>
                <a:path h="219583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2676" y="2953207"/>
            <a:ext cx="6039755" cy="61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Patient &amp; Support Features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72676" y="3802304"/>
            <a:ext cx="274539" cy="274539"/>
            <a:chOff x="0" y="0"/>
            <a:chExt cx="366052" cy="3660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845425" y="3676517"/>
            <a:ext cx="5627951" cy="34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LLM-Driven</a:t>
            </a: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&amp; 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5425" y="4029208"/>
            <a:ext cx="6046260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Allows nurses to dictate or paste medication protocols; AI parses audio and text to automatically build the patient daily timeline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72676" y="5037706"/>
            <a:ext cx="274539" cy="274539"/>
            <a:chOff x="0" y="0"/>
            <a:chExt cx="366052" cy="3660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845425" y="4911928"/>
            <a:ext cx="5627951" cy="34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Interactive Guidance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5425" y="5264620"/>
            <a:ext cx="5875842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Step-by-step visual timers and mixing guides that patients follow during the critical self-injection window.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2676" y="6441205"/>
            <a:ext cx="274539" cy="274539"/>
            <a:chOff x="0" y="0"/>
            <a:chExt cx="366052" cy="3660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845425" y="6315418"/>
            <a:ext cx="5627951" cy="34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Ask-M</a:t>
            </a: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e-Anything Explainer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5425" y="6668110"/>
            <a:ext cx="6170200" cy="8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Conversational agent leveraging RAG grounded in verified clinical guidelines (ASRM/ESHRE) to answer medication and clinical questions instantly in English/Arabic.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2676" y="7942231"/>
            <a:ext cx="274539" cy="274539"/>
            <a:chOff x="0" y="0"/>
            <a:chExt cx="366052" cy="3660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6014" cy="366014"/>
            </a:xfrm>
            <a:custGeom>
              <a:avLst/>
              <a:gdLst/>
              <a:ahLst/>
              <a:cxnLst/>
              <a:rect r="r" b="b" t="t" l="l"/>
              <a:pathLst>
                <a:path h="366014" w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845425" y="7816444"/>
            <a:ext cx="5627951" cy="40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87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Support Companion Sync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5425" y="8169135"/>
            <a:ext cx="5875842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Delivers timely nudges, empathy coaching cues, and aligned calendars, reducing patient anxiety and relationship friction.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28274" y="2608078"/>
            <a:ext cx="7381589" cy="6650222"/>
            <a:chOff x="0" y="0"/>
            <a:chExt cx="11530444" cy="10388008"/>
          </a:xfrm>
        </p:grpSpPr>
        <p:sp>
          <p:nvSpPr>
            <p:cNvPr name="Freeform 30" id="30" descr="ovify_patient_support.png"/>
            <p:cNvSpPr/>
            <p:nvPr/>
          </p:nvSpPr>
          <p:spPr>
            <a:xfrm flipH="false" flipV="false" rot="0">
              <a:off x="0" y="0"/>
              <a:ext cx="11530457" cy="10388021"/>
            </a:xfrm>
            <a:custGeom>
              <a:avLst/>
              <a:gdLst/>
              <a:ahLst/>
              <a:cxnLst/>
              <a:rect r="r" b="b" t="t" l="l"/>
              <a:pathLst>
                <a:path h="10388021" w="11530457">
                  <a:moveTo>
                    <a:pt x="892714" y="0"/>
                  </a:moveTo>
                  <a:lnTo>
                    <a:pt x="10637743" y="0"/>
                  </a:lnTo>
                  <a:cubicBezTo>
                    <a:pt x="11130775" y="0"/>
                    <a:pt x="11530457" y="399682"/>
                    <a:pt x="11530457" y="892714"/>
                  </a:cubicBezTo>
                  <a:lnTo>
                    <a:pt x="11530457" y="9495307"/>
                  </a:lnTo>
                  <a:cubicBezTo>
                    <a:pt x="11530457" y="9732070"/>
                    <a:pt x="11436403" y="9959135"/>
                    <a:pt x="11268987" y="10126551"/>
                  </a:cubicBezTo>
                  <a:cubicBezTo>
                    <a:pt x="11101570" y="10293968"/>
                    <a:pt x="10874505" y="10388021"/>
                    <a:pt x="10637743" y="10388021"/>
                  </a:cubicBezTo>
                  <a:lnTo>
                    <a:pt x="892714" y="10388021"/>
                  </a:lnTo>
                  <a:cubicBezTo>
                    <a:pt x="399682" y="10388021"/>
                    <a:pt x="0" y="9988339"/>
                    <a:pt x="0" y="9495307"/>
                  </a:cubicBezTo>
                  <a:lnTo>
                    <a:pt x="0" y="892714"/>
                  </a:lnTo>
                  <a:cubicBezTo>
                    <a:pt x="0" y="655952"/>
                    <a:pt x="94054" y="428886"/>
                    <a:pt x="261470" y="261470"/>
                  </a:cubicBezTo>
                  <a:cubicBezTo>
                    <a:pt x="428886" y="94054"/>
                    <a:pt x="655952" y="0"/>
                    <a:pt x="89271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5498" r="0" b="-549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AI Engine &amp; Clinic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that anticipates dropouts and optimizes nurse workloads.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76716"/>
            <a:ext cx="384353" cy="384353"/>
            <a:chOff x="0" y="0"/>
            <a:chExt cx="512470" cy="512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9941" y="2541403"/>
            <a:ext cx="686336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CalmSeed Emotional AI (NLP)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941" y="2972257"/>
            <a:ext cx="6607527" cy="8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Analyzes daily check-in logs and user text trends for semantic markers to identify warning signs of severe anxiety, highlighting patients for nurse follow-up.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4392549"/>
            <a:ext cx="384353" cy="384353"/>
            <a:chOff x="0" y="0"/>
            <a:chExt cx="512470" cy="512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09941" y="4257246"/>
            <a:ext cx="686336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</a:t>
            </a: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edictive Adherence Classifier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9941" y="4686102"/>
            <a:ext cx="6607527" cy="8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 supervised model trained on logging cadence trends (e.g., a patient logging Menopur 15 minutes later each day) to predict dropout risks 48 hours before compliance failure.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872" y="6108392"/>
            <a:ext cx="384353" cy="384353"/>
            <a:chOff x="0" y="0"/>
            <a:chExt cx="512470" cy="5124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509941" y="5973080"/>
            <a:ext cx="686336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Dy</a:t>
            </a: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namic Patient Risk Vector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9941" y="6399956"/>
            <a:ext cx="6607527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 Sy</a:t>
            </a: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nthesizes compliance behavior, NLP sentiment logs, and cycle phase complexity (dosage, patient age) into a unified priority score.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72" y="7824235"/>
            <a:ext cx="384353" cy="384353"/>
            <a:chOff x="0" y="0"/>
            <a:chExt cx="512470" cy="512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509941" y="7688923"/>
            <a:ext cx="6863363" cy="377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Nurse Priority </a:t>
            </a:r>
            <a:r>
              <a:rPr lang="en-US" sz="210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Triage Console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9941" y="8113811"/>
            <a:ext cx="6863363" cy="8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Dynamically ranks active patients based on the Risk Vector, streamlining clinic workflows and saving nurses up to 40% of administrative phone chasing.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75507" y="2402176"/>
            <a:ext cx="8098765" cy="6863363"/>
            <a:chOff x="0" y="0"/>
            <a:chExt cx="10798353" cy="9151150"/>
          </a:xfrm>
        </p:grpSpPr>
        <p:sp>
          <p:nvSpPr>
            <p:cNvPr name="Freeform 25" id="25" descr="ovify_clinic_dashboard.png"/>
            <p:cNvSpPr/>
            <p:nvPr/>
          </p:nvSpPr>
          <p:spPr>
            <a:xfrm flipH="false" flipV="false" rot="0">
              <a:off x="0" y="0"/>
              <a:ext cx="10798302" cy="9151107"/>
            </a:xfrm>
            <a:custGeom>
              <a:avLst/>
              <a:gdLst/>
              <a:ahLst/>
              <a:cxnLst/>
              <a:rect r="r" b="b" t="t" l="l"/>
              <a:pathLst>
                <a:path h="9151107" w="10798302">
                  <a:moveTo>
                    <a:pt x="698500" y="0"/>
                  </a:moveTo>
                  <a:lnTo>
                    <a:pt x="10099802" y="0"/>
                  </a:lnTo>
                  <a:cubicBezTo>
                    <a:pt x="10285056" y="0"/>
                    <a:pt x="10462722" y="73592"/>
                    <a:pt x="10593716" y="204586"/>
                  </a:cubicBezTo>
                  <a:cubicBezTo>
                    <a:pt x="10724710" y="335580"/>
                    <a:pt x="10798302" y="513246"/>
                    <a:pt x="10798302" y="698500"/>
                  </a:cubicBezTo>
                  <a:lnTo>
                    <a:pt x="10798302" y="8452607"/>
                  </a:lnTo>
                  <a:cubicBezTo>
                    <a:pt x="10798302" y="8838378"/>
                    <a:pt x="10485573" y="9151107"/>
                    <a:pt x="10099802" y="9151107"/>
                  </a:cubicBezTo>
                  <a:lnTo>
                    <a:pt x="698500" y="9151107"/>
                  </a:lnTo>
                  <a:cubicBezTo>
                    <a:pt x="312729" y="9151107"/>
                    <a:pt x="0" y="8838378"/>
                    <a:pt x="0" y="8452607"/>
                  </a:cubicBezTo>
                  <a:lnTo>
                    <a:pt x="0" y="698500"/>
                  </a:lnTo>
                  <a:cubicBezTo>
                    <a:pt x="0" y="312729"/>
                    <a:pt x="312729" y="0"/>
                    <a:pt x="6985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999" r="0" b="-900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Competitive Landscape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No existing competitor delivers both deep EMR integration and patient support.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08078"/>
            <a:ext cx="9059637" cy="1509941"/>
            <a:chOff x="0" y="0"/>
            <a:chExt cx="12079516" cy="20132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9605" cy="2013331"/>
            </a:xfrm>
            <a:custGeom>
              <a:avLst/>
              <a:gdLst/>
              <a:ahLst/>
              <a:cxnLst/>
              <a:rect r="r" b="b" t="t" l="l"/>
              <a:pathLst>
                <a:path h="2013331" w="12079605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lnTo>
                    <a:pt x="11978894" y="0"/>
                  </a:lnTo>
                  <a:cubicBezTo>
                    <a:pt x="12034520" y="0"/>
                    <a:pt x="12079605" y="45085"/>
                    <a:pt x="12079605" y="100711"/>
                  </a:cubicBezTo>
                  <a:lnTo>
                    <a:pt x="12079605" y="1912620"/>
                  </a:lnTo>
                  <a:cubicBezTo>
                    <a:pt x="12079605" y="1968246"/>
                    <a:pt x="12034520" y="2013331"/>
                    <a:pt x="11978894" y="2013331"/>
                  </a:cubicBezTo>
                  <a:lnTo>
                    <a:pt x="100711" y="2013331"/>
                  </a:lnTo>
                  <a:cubicBezTo>
                    <a:pt x="45085" y="2013331"/>
                    <a:pt x="0" y="1968246"/>
                    <a:pt x="0" y="19126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2922" y="2705380"/>
            <a:ext cx="2089205" cy="1275375"/>
            <a:chOff x="0" y="0"/>
            <a:chExt cx="2785606" cy="1700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85619" cy="1700316"/>
            </a:xfrm>
            <a:custGeom>
              <a:avLst/>
              <a:gdLst/>
              <a:ahLst/>
              <a:cxnLst/>
              <a:rect r="r" b="b" t="t" l="l"/>
              <a:pathLst>
                <a:path h="1700316" w="2785619">
                  <a:moveTo>
                    <a:pt x="0" y="84958"/>
                  </a:moveTo>
                  <a:cubicBezTo>
                    <a:pt x="0" y="38116"/>
                    <a:pt x="22694" y="0"/>
                    <a:pt x="50583" y="0"/>
                  </a:cubicBezTo>
                  <a:lnTo>
                    <a:pt x="2735037" y="0"/>
                  </a:lnTo>
                  <a:cubicBezTo>
                    <a:pt x="2763063" y="0"/>
                    <a:pt x="2785619" y="38116"/>
                    <a:pt x="2785619" y="84958"/>
                  </a:cubicBezTo>
                  <a:lnTo>
                    <a:pt x="2785619" y="1615358"/>
                  </a:lnTo>
                  <a:cubicBezTo>
                    <a:pt x="2785619" y="1662430"/>
                    <a:pt x="2762926" y="1700316"/>
                    <a:pt x="2735037" y="1700316"/>
                  </a:cubicBezTo>
                  <a:lnTo>
                    <a:pt x="50583" y="1700316"/>
                  </a:lnTo>
                  <a:cubicBezTo>
                    <a:pt x="22557" y="1700316"/>
                    <a:pt x="0" y="1662200"/>
                    <a:pt x="0" y="1615358"/>
                  </a:cubicBezTo>
                  <a:close/>
                </a:path>
              </a:pathLst>
            </a:custGeom>
            <a:solidFill>
              <a:srgbClr val="F5F3FF">
                <a:alpha val="49804"/>
              </a:srgbClr>
            </a:solidFill>
            <a:ln w="19065" cap="sq">
              <a:solidFill>
                <a:srgbClr val="FDFDFB">
                  <a:alpha val="49804"/>
                </a:srgbClr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235402" y="3004358"/>
            <a:ext cx="1921745" cy="62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real </a:t>
            </a:r>
          </a:p>
          <a:p>
            <a:pPr algn="ctr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competitor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1677" y="2825458"/>
            <a:ext cx="617702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Paper &amp; WhatsApp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31677" y="3274238"/>
            <a:ext cx="5712323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No visibility, no compliance alerts. Heavy manual workload that burns out clinical staff.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0872" y="4282735"/>
            <a:ext cx="9059637" cy="1509941"/>
            <a:chOff x="0" y="0"/>
            <a:chExt cx="12079516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79605" cy="2013331"/>
            </a:xfrm>
            <a:custGeom>
              <a:avLst/>
              <a:gdLst/>
              <a:ahLst/>
              <a:cxnLst/>
              <a:rect r="r" b="b" t="t" l="l"/>
              <a:pathLst>
                <a:path h="2013331" w="12079605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lnTo>
                    <a:pt x="11978894" y="0"/>
                  </a:lnTo>
                  <a:cubicBezTo>
                    <a:pt x="12034520" y="0"/>
                    <a:pt x="12079605" y="45085"/>
                    <a:pt x="12079605" y="100711"/>
                  </a:cubicBezTo>
                  <a:lnTo>
                    <a:pt x="12079605" y="1912620"/>
                  </a:lnTo>
                  <a:cubicBezTo>
                    <a:pt x="12079605" y="1968246"/>
                    <a:pt x="12034520" y="2013331"/>
                    <a:pt x="11978894" y="2013331"/>
                  </a:cubicBezTo>
                  <a:lnTo>
                    <a:pt x="100711" y="2013331"/>
                  </a:lnTo>
                  <a:cubicBezTo>
                    <a:pt x="45085" y="2013331"/>
                    <a:pt x="0" y="1968246"/>
                    <a:pt x="0" y="19126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2922" y="4432344"/>
            <a:ext cx="2089205" cy="1195607"/>
            <a:chOff x="0" y="0"/>
            <a:chExt cx="2785606" cy="15941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85619" cy="1593970"/>
            </a:xfrm>
            <a:custGeom>
              <a:avLst/>
              <a:gdLst/>
              <a:ahLst/>
              <a:cxnLst/>
              <a:rect r="r" b="b" t="t" l="l"/>
              <a:pathLst>
                <a:path h="1593970" w="2785619">
                  <a:moveTo>
                    <a:pt x="0" y="79645"/>
                  </a:moveTo>
                  <a:cubicBezTo>
                    <a:pt x="0" y="35732"/>
                    <a:pt x="22694" y="0"/>
                    <a:pt x="50583" y="0"/>
                  </a:cubicBezTo>
                  <a:lnTo>
                    <a:pt x="2735037" y="0"/>
                  </a:lnTo>
                  <a:cubicBezTo>
                    <a:pt x="2763063" y="0"/>
                    <a:pt x="2785619" y="35732"/>
                    <a:pt x="2785619" y="79645"/>
                  </a:cubicBezTo>
                  <a:lnTo>
                    <a:pt x="2785619" y="1514325"/>
                  </a:lnTo>
                  <a:cubicBezTo>
                    <a:pt x="2785619" y="1558453"/>
                    <a:pt x="2762926" y="1593970"/>
                    <a:pt x="2735037" y="1593970"/>
                  </a:cubicBezTo>
                  <a:lnTo>
                    <a:pt x="50583" y="1593970"/>
                  </a:lnTo>
                  <a:cubicBezTo>
                    <a:pt x="22557" y="1593970"/>
                    <a:pt x="0" y="1558237"/>
                    <a:pt x="0" y="1514325"/>
                  </a:cubicBezTo>
                  <a:close/>
                </a:path>
              </a:pathLst>
            </a:custGeom>
            <a:solidFill>
              <a:srgbClr val="F5F3FF">
                <a:alpha val="49804"/>
              </a:srgbClr>
            </a:solidFill>
            <a:ln w="19065" cap="sq">
              <a:solidFill>
                <a:srgbClr val="FDFDFB">
                  <a:alpha val="49804"/>
                </a:srgbClr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16652" y="4805458"/>
            <a:ext cx="1921745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only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31677" y="4500124"/>
            <a:ext cx="617702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Consumer Apps (e.g., Embie, Naula, Bonzun)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31677" y="4948904"/>
            <a:ext cx="5712323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Purely patient-facing tracking calendars, zero clinic dashboard or nurse compliance alerts.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872" y="5957402"/>
            <a:ext cx="9059637" cy="1509941"/>
            <a:chOff x="0" y="0"/>
            <a:chExt cx="12079516" cy="20132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079605" cy="2013331"/>
            </a:xfrm>
            <a:custGeom>
              <a:avLst/>
              <a:gdLst/>
              <a:ahLst/>
              <a:cxnLst/>
              <a:rect r="r" b="b" t="t" l="l"/>
              <a:pathLst>
                <a:path h="2013331" w="12079605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lnTo>
                    <a:pt x="11978894" y="0"/>
                  </a:lnTo>
                  <a:cubicBezTo>
                    <a:pt x="12034520" y="0"/>
                    <a:pt x="12079605" y="45085"/>
                    <a:pt x="12079605" y="100711"/>
                  </a:cubicBezTo>
                  <a:lnTo>
                    <a:pt x="12079605" y="1912620"/>
                  </a:lnTo>
                  <a:cubicBezTo>
                    <a:pt x="12079605" y="1968246"/>
                    <a:pt x="12034520" y="2013331"/>
                    <a:pt x="11978894" y="2013331"/>
                  </a:cubicBezTo>
                  <a:lnTo>
                    <a:pt x="100711" y="2013331"/>
                  </a:lnTo>
                  <a:cubicBezTo>
                    <a:pt x="45085" y="2013331"/>
                    <a:pt x="0" y="1968246"/>
                    <a:pt x="0" y="19126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2922" y="6135576"/>
            <a:ext cx="2089205" cy="1173904"/>
            <a:chOff x="0" y="0"/>
            <a:chExt cx="2785606" cy="15652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85619" cy="1565036"/>
            </a:xfrm>
            <a:custGeom>
              <a:avLst/>
              <a:gdLst/>
              <a:ahLst/>
              <a:cxnLst/>
              <a:rect r="r" b="b" t="t" l="l"/>
              <a:pathLst>
                <a:path h="1565036" w="2785619">
                  <a:moveTo>
                    <a:pt x="0" y="78199"/>
                  </a:moveTo>
                  <a:cubicBezTo>
                    <a:pt x="0" y="35084"/>
                    <a:pt x="22694" y="0"/>
                    <a:pt x="50583" y="0"/>
                  </a:cubicBezTo>
                  <a:lnTo>
                    <a:pt x="2735037" y="0"/>
                  </a:lnTo>
                  <a:cubicBezTo>
                    <a:pt x="2763063" y="0"/>
                    <a:pt x="2785619" y="35084"/>
                    <a:pt x="2785619" y="78199"/>
                  </a:cubicBezTo>
                  <a:lnTo>
                    <a:pt x="2785619" y="1486837"/>
                  </a:lnTo>
                  <a:cubicBezTo>
                    <a:pt x="2785619" y="1530164"/>
                    <a:pt x="2762926" y="1565036"/>
                    <a:pt x="2735037" y="1565036"/>
                  </a:cubicBezTo>
                  <a:lnTo>
                    <a:pt x="50583" y="1565036"/>
                  </a:lnTo>
                  <a:cubicBezTo>
                    <a:pt x="22557" y="1565036"/>
                    <a:pt x="0" y="1529952"/>
                    <a:pt x="0" y="1486837"/>
                  </a:cubicBezTo>
                  <a:close/>
                </a:path>
              </a:pathLst>
            </a:custGeom>
            <a:solidFill>
              <a:srgbClr val="F5F3FF">
                <a:alpha val="49804"/>
              </a:srgbClr>
            </a:solidFill>
            <a:ln w="19065" cap="sq">
              <a:solidFill>
                <a:srgbClr val="FDFDFB">
                  <a:alpha val="49804"/>
                </a:srgbClr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16652" y="6545151"/>
            <a:ext cx="1921745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Records only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31677" y="6174781"/>
            <a:ext cx="617702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Fertility EMRs (e.g., eIVF, MedITEX, BabySentry)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31677" y="6623561"/>
            <a:ext cx="5712323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Records and scheduling platforms with very basic, rarely-used patient portals.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872" y="7632059"/>
            <a:ext cx="9059637" cy="1509941"/>
            <a:chOff x="0" y="0"/>
            <a:chExt cx="12079516" cy="20132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079605" cy="2013331"/>
            </a:xfrm>
            <a:custGeom>
              <a:avLst/>
              <a:gdLst/>
              <a:ahLst/>
              <a:cxnLst/>
              <a:rect r="r" b="b" t="t" l="l"/>
              <a:pathLst>
                <a:path h="2013331" w="12079605">
                  <a:moveTo>
                    <a:pt x="0" y="100711"/>
                  </a:moveTo>
                  <a:cubicBezTo>
                    <a:pt x="0" y="45085"/>
                    <a:pt x="45085" y="0"/>
                    <a:pt x="100711" y="0"/>
                  </a:cubicBezTo>
                  <a:lnTo>
                    <a:pt x="11978894" y="0"/>
                  </a:lnTo>
                  <a:cubicBezTo>
                    <a:pt x="12034520" y="0"/>
                    <a:pt x="12079605" y="45085"/>
                    <a:pt x="12079605" y="100711"/>
                  </a:cubicBezTo>
                  <a:lnTo>
                    <a:pt x="12079605" y="1912620"/>
                  </a:lnTo>
                  <a:cubicBezTo>
                    <a:pt x="12079605" y="1968246"/>
                    <a:pt x="12034520" y="2013331"/>
                    <a:pt x="11978894" y="2013331"/>
                  </a:cubicBezTo>
                  <a:lnTo>
                    <a:pt x="100711" y="2013331"/>
                  </a:lnTo>
                  <a:cubicBezTo>
                    <a:pt x="45085" y="2013331"/>
                    <a:pt x="0" y="1968246"/>
                    <a:pt x="0" y="19126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32922" y="7772143"/>
            <a:ext cx="2089205" cy="1131494"/>
            <a:chOff x="0" y="0"/>
            <a:chExt cx="2785606" cy="15086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85619" cy="1508495"/>
            </a:xfrm>
            <a:custGeom>
              <a:avLst/>
              <a:gdLst/>
              <a:ahLst/>
              <a:cxnLst/>
              <a:rect r="r" b="b" t="t" l="l"/>
              <a:pathLst>
                <a:path h="1508495" w="2785619">
                  <a:moveTo>
                    <a:pt x="0" y="75374"/>
                  </a:moveTo>
                  <a:cubicBezTo>
                    <a:pt x="0" y="33816"/>
                    <a:pt x="22694" y="0"/>
                    <a:pt x="50583" y="0"/>
                  </a:cubicBezTo>
                  <a:lnTo>
                    <a:pt x="2735037" y="0"/>
                  </a:lnTo>
                  <a:cubicBezTo>
                    <a:pt x="2763063" y="0"/>
                    <a:pt x="2785619" y="33816"/>
                    <a:pt x="2785619" y="75374"/>
                  </a:cubicBezTo>
                  <a:lnTo>
                    <a:pt x="2785619" y="1433122"/>
                  </a:lnTo>
                  <a:cubicBezTo>
                    <a:pt x="2785619" y="1474883"/>
                    <a:pt x="2762926" y="1508495"/>
                    <a:pt x="2735037" y="1508495"/>
                  </a:cubicBezTo>
                  <a:lnTo>
                    <a:pt x="50583" y="1508495"/>
                  </a:lnTo>
                  <a:cubicBezTo>
                    <a:pt x="22557" y="1508495"/>
                    <a:pt x="0" y="1474679"/>
                    <a:pt x="0" y="1433122"/>
                  </a:cubicBezTo>
                  <a:close/>
                </a:path>
              </a:pathLst>
            </a:custGeom>
            <a:solidFill>
              <a:srgbClr val="F5F3FF">
                <a:alpha val="49804"/>
              </a:srgbClr>
            </a:solidFill>
            <a:ln w="19065" cap="sq">
              <a:solidFill>
                <a:srgbClr val="FDFDFB">
                  <a:alpha val="49804"/>
                </a:srgbClr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35402" y="8154781"/>
            <a:ext cx="1921745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Generic portals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31677" y="7849448"/>
            <a:ext cx="6177029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 / HIS Portals (e.g., Epic, Cerner, Malaffi)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31677" y="8298228"/>
            <a:ext cx="5712323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Generic, non-specialized health portals that lack IVF-specific workflows.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432313" y="2608078"/>
            <a:ext cx="6863363" cy="6382931"/>
            <a:chOff x="0" y="0"/>
            <a:chExt cx="9151150" cy="8510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1239" cy="8510651"/>
            </a:xfrm>
            <a:custGeom>
              <a:avLst/>
              <a:gdLst/>
              <a:ahLst/>
              <a:cxnLst/>
              <a:rect r="r" b="b" t="t" l="l"/>
              <a:pathLst>
                <a:path h="8510651" w="9151239">
                  <a:moveTo>
                    <a:pt x="0" y="425577"/>
                  </a:moveTo>
                  <a:cubicBezTo>
                    <a:pt x="0" y="190500"/>
                    <a:pt x="190500" y="0"/>
                    <a:pt x="425577" y="0"/>
                  </a:cubicBezTo>
                  <a:lnTo>
                    <a:pt x="8725662" y="0"/>
                  </a:lnTo>
                  <a:cubicBezTo>
                    <a:pt x="8960612" y="0"/>
                    <a:pt x="9151239" y="190500"/>
                    <a:pt x="9151239" y="425577"/>
                  </a:cubicBezTo>
                  <a:lnTo>
                    <a:pt x="9151239" y="8085074"/>
                  </a:lnTo>
                  <a:cubicBezTo>
                    <a:pt x="9151239" y="8320024"/>
                    <a:pt x="8960739" y="8510651"/>
                    <a:pt x="8725662" y="8510651"/>
                  </a:cubicBezTo>
                  <a:lnTo>
                    <a:pt x="425577" y="8510651"/>
                  </a:lnTo>
                  <a:cubicBezTo>
                    <a:pt x="190500" y="8510524"/>
                    <a:pt x="0" y="8320024"/>
                    <a:pt x="0" y="8085074"/>
                  </a:cubicBezTo>
                  <a:close/>
                </a:path>
              </a:pathLst>
            </a:custGeom>
            <a:solidFill>
              <a:srgbClr val="09122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942245" y="3043971"/>
            <a:ext cx="4804353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7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Ovify Moat &amp; Defensibility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981382" y="4049382"/>
            <a:ext cx="205902" cy="205902"/>
            <a:chOff x="0" y="0"/>
            <a:chExt cx="274536" cy="2745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393176" y="3923605"/>
            <a:ext cx="5627951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GCC-Specific Localisation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93176" y="4244635"/>
            <a:ext cx="5353431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99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Arabic-first localized content, WhatsApp notifications, PDPL-compliance, and direct integration with Abu Dhabi's Malaffi exchange.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981382" y="5627951"/>
            <a:ext cx="205902" cy="205902"/>
            <a:chOff x="0" y="0"/>
            <a:chExt cx="274536" cy="274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1393176" y="5502173"/>
            <a:ext cx="5627951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First-Mover Clinic Lock-in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393176" y="5823214"/>
            <a:ext cx="5353431" cy="7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99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Free clinical pilots secure early clinic partnerships, integration with EMR systems, and a reference system that is hard to replace.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981382" y="7206529"/>
            <a:ext cx="205902" cy="205902"/>
            <a:chOff x="0" y="0"/>
            <a:chExt cx="274536" cy="2745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574" cy="274574"/>
            </a:xfrm>
            <a:custGeom>
              <a:avLst/>
              <a:gdLst/>
              <a:ahLst/>
              <a:cxnLst/>
              <a:rect r="r" b="b" t="t" l="l"/>
              <a:pathLst>
                <a:path h="274574" w="274574">
                  <a:moveTo>
                    <a:pt x="0" y="137287"/>
                  </a:moveTo>
                  <a:cubicBezTo>
                    <a:pt x="0" y="61468"/>
                    <a:pt x="61468" y="0"/>
                    <a:pt x="137287" y="0"/>
                  </a:cubicBezTo>
                  <a:cubicBezTo>
                    <a:pt x="213106" y="0"/>
                    <a:pt x="274574" y="61468"/>
                    <a:pt x="274574" y="137287"/>
                  </a:cubicBezTo>
                  <a:cubicBezTo>
                    <a:pt x="274574" y="213106"/>
                    <a:pt x="213106" y="274574"/>
                    <a:pt x="137287" y="274574"/>
                  </a:cubicBezTo>
                  <a:cubicBezTo>
                    <a:pt x="61468" y="274574"/>
                    <a:pt x="0" y="213106"/>
                    <a:pt x="0" y="137287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1393176" y="7080742"/>
            <a:ext cx="5627951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</a:t>
            </a:r>
            <a:r>
              <a:rPr lang="en-US" sz="1800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dherence Data Flywheel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93176" y="7401782"/>
            <a:ext cx="5353431" cy="101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99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Unlike l</a:t>
            </a:r>
            <a:r>
              <a:rPr lang="en-US" sz="1599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egacy EMR databases, Ovify's closed-loop system actively feeds real-time patient adherence and sentiment data back into our ML model, compounding accuracy over time and creating a defensible medical data moat."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49056" y="9243927"/>
            <a:ext cx="1384905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1999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"Traditional systems are passive record repositories. Ovify is a predictive adherence engine that dynamically prevents dropout failures."</a:t>
            </a:r>
          </a:p>
          <a:p>
            <a:pPr algn="ctr">
              <a:lnSpc>
                <a:spcPts val="2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Monetization Strategy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 simple annual software licence, billed upfront, generating over 90% gross margin.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745343"/>
            <a:ext cx="5284784" cy="4140984"/>
            <a:chOff x="0" y="0"/>
            <a:chExt cx="7046379" cy="55213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468" cy="5521325"/>
            </a:xfrm>
            <a:custGeom>
              <a:avLst/>
              <a:gdLst/>
              <a:ahLst/>
              <a:cxnLst/>
              <a:rect r="r" b="b" t="t" l="l"/>
              <a:pathLst>
                <a:path h="5521325" w="7046468">
                  <a:moveTo>
                    <a:pt x="0" y="276097"/>
                  </a:moveTo>
                  <a:cubicBezTo>
                    <a:pt x="0" y="123589"/>
                    <a:pt x="127000" y="0"/>
                    <a:pt x="283718" y="0"/>
                  </a:cubicBezTo>
                  <a:lnTo>
                    <a:pt x="6762750" y="0"/>
                  </a:lnTo>
                  <a:cubicBezTo>
                    <a:pt x="6919468" y="0"/>
                    <a:pt x="7046468" y="123589"/>
                    <a:pt x="7046468" y="276097"/>
                  </a:cubicBezTo>
                  <a:lnTo>
                    <a:pt x="7046468" y="5245228"/>
                  </a:lnTo>
                  <a:cubicBezTo>
                    <a:pt x="7046468" y="5397736"/>
                    <a:pt x="6919468" y="5521325"/>
                    <a:pt x="6762750" y="5521325"/>
                  </a:cubicBezTo>
                  <a:lnTo>
                    <a:pt x="283718" y="5521325"/>
                  </a:lnTo>
                  <a:cubicBezTo>
                    <a:pt x="127000" y="5521325"/>
                    <a:pt x="0" y="5397736"/>
                    <a:pt x="0" y="52452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2676" y="2943682"/>
            <a:ext cx="4461186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Starter Platform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676" y="3532803"/>
            <a:ext cx="4461186" cy="72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602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55,000 AED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2676" y="4276296"/>
            <a:ext cx="446118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per year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72676" y="4872990"/>
            <a:ext cx="4461186" cy="20593"/>
            <a:chOff x="0" y="0"/>
            <a:chExt cx="5948248" cy="274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48299" cy="27432"/>
            </a:xfrm>
            <a:custGeom>
              <a:avLst/>
              <a:gdLst/>
              <a:ahLst/>
              <a:cxnLst/>
              <a:rect r="r" b="b" t="t" l="l"/>
              <a:pathLst>
                <a:path h="27432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72676" y="5021742"/>
            <a:ext cx="4461186" cy="150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Up to 150 cycles (~370 AED / cycle)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9,000 AED setup fee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Best for boutique, single-site fertility clinics.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0196" y="2745343"/>
            <a:ext cx="5284784" cy="4140984"/>
            <a:chOff x="0" y="0"/>
            <a:chExt cx="7046379" cy="55213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468" cy="5521325"/>
            </a:xfrm>
            <a:custGeom>
              <a:avLst/>
              <a:gdLst/>
              <a:ahLst/>
              <a:cxnLst/>
              <a:rect r="r" b="b" t="t" l="l"/>
              <a:pathLst>
                <a:path h="5521325" w="7046468">
                  <a:moveTo>
                    <a:pt x="0" y="276097"/>
                  </a:moveTo>
                  <a:cubicBezTo>
                    <a:pt x="0" y="123589"/>
                    <a:pt x="127000" y="0"/>
                    <a:pt x="283718" y="0"/>
                  </a:cubicBezTo>
                  <a:lnTo>
                    <a:pt x="6762750" y="0"/>
                  </a:lnTo>
                  <a:cubicBezTo>
                    <a:pt x="6919468" y="0"/>
                    <a:pt x="7046468" y="123589"/>
                    <a:pt x="7046468" y="276097"/>
                  </a:cubicBezTo>
                  <a:lnTo>
                    <a:pt x="7046468" y="5245228"/>
                  </a:lnTo>
                  <a:cubicBezTo>
                    <a:pt x="7046468" y="5397736"/>
                    <a:pt x="6919468" y="5521325"/>
                    <a:pt x="6762750" y="5521325"/>
                  </a:cubicBezTo>
                  <a:lnTo>
                    <a:pt x="283718" y="5521325"/>
                  </a:lnTo>
                  <a:cubicBezTo>
                    <a:pt x="127000" y="5521325"/>
                    <a:pt x="0" y="5397736"/>
                    <a:pt x="0" y="5245228"/>
                  </a:cubicBezTo>
                  <a:close/>
                </a:path>
              </a:pathLst>
            </a:custGeom>
            <a:solidFill>
              <a:srgbClr val="13233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932000" y="2943682"/>
            <a:ext cx="4461186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Growth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32000" y="3532803"/>
            <a:ext cx="4461186" cy="72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6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99,000 AED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32000" y="4276296"/>
            <a:ext cx="446118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>
                <a:solidFill>
                  <a:srgbClr val="9E8CEF"/>
                </a:solidFill>
                <a:latin typeface="Calibri (MS)"/>
                <a:ea typeface="Calibri (MS)"/>
                <a:cs typeface="Calibri (MS)"/>
                <a:sym typeface="Calibri (MS)"/>
              </a:rPr>
              <a:t>per year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32000" y="4872990"/>
            <a:ext cx="4461186" cy="20593"/>
            <a:chOff x="0" y="0"/>
            <a:chExt cx="5948248" cy="2745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8299" cy="27432"/>
            </a:xfrm>
            <a:custGeom>
              <a:avLst/>
              <a:gdLst/>
              <a:ahLst/>
              <a:cxnLst/>
              <a:rect r="r" b="b" t="t" l="l"/>
              <a:pathLst>
                <a:path h="27432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4A556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32000" y="5021742"/>
            <a:ext cx="4461186" cy="150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Up to 500 cycles (~198 AED / cycle)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18,000 AED setup fee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Optimized for active regional mid-size centres.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79519" y="2745343"/>
            <a:ext cx="5284784" cy="4140984"/>
            <a:chOff x="0" y="0"/>
            <a:chExt cx="7046379" cy="55213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468" cy="5521325"/>
            </a:xfrm>
            <a:custGeom>
              <a:avLst/>
              <a:gdLst/>
              <a:ahLst/>
              <a:cxnLst/>
              <a:rect r="r" b="b" t="t" l="l"/>
              <a:pathLst>
                <a:path h="5521325" w="7046468">
                  <a:moveTo>
                    <a:pt x="0" y="276097"/>
                  </a:moveTo>
                  <a:cubicBezTo>
                    <a:pt x="0" y="123589"/>
                    <a:pt x="127000" y="0"/>
                    <a:pt x="283718" y="0"/>
                  </a:cubicBezTo>
                  <a:lnTo>
                    <a:pt x="6762750" y="0"/>
                  </a:lnTo>
                  <a:cubicBezTo>
                    <a:pt x="6919468" y="0"/>
                    <a:pt x="7046468" y="123589"/>
                    <a:pt x="7046468" y="276097"/>
                  </a:cubicBezTo>
                  <a:lnTo>
                    <a:pt x="7046468" y="5245228"/>
                  </a:lnTo>
                  <a:cubicBezTo>
                    <a:pt x="7046468" y="5397736"/>
                    <a:pt x="6919468" y="5521325"/>
                    <a:pt x="6762750" y="5521325"/>
                  </a:cubicBezTo>
                  <a:lnTo>
                    <a:pt x="283718" y="5521325"/>
                  </a:lnTo>
                  <a:cubicBezTo>
                    <a:pt x="127000" y="5521325"/>
                    <a:pt x="0" y="5397736"/>
                    <a:pt x="0" y="52452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491323" y="2943682"/>
            <a:ext cx="4461186" cy="62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2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Scale / Enterprise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91323" y="3532803"/>
            <a:ext cx="4461186" cy="72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602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249,000 AED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91323" y="4276296"/>
            <a:ext cx="4461186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65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per site / year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91323" y="4872990"/>
            <a:ext cx="4461186" cy="20593"/>
            <a:chOff x="0" y="0"/>
            <a:chExt cx="5948248" cy="274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8299" cy="27432"/>
            </a:xfrm>
            <a:custGeom>
              <a:avLst/>
              <a:gdLst/>
              <a:ahLst/>
              <a:cxnLst/>
              <a:rect r="r" b="b" t="t" l="l"/>
              <a:pathLst>
                <a:path h="27432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91323" y="5021742"/>
            <a:ext cx="4461186" cy="1506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500+ cycles (~166 - 249 AED / cycle)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35,000 AED setup fee</a:t>
            </a:r>
          </a:p>
          <a:p>
            <a:pPr algn="l">
              <a:lnSpc>
                <a:spcPts val="2376"/>
              </a:lnSpc>
            </a:pPr>
          </a:p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For large multi-site clinical hospital chains.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4496" y="8006646"/>
            <a:ext cx="16334804" cy="1526516"/>
            <a:chOff x="0" y="0"/>
            <a:chExt cx="21805151" cy="20377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805137" cy="2037742"/>
            </a:xfrm>
            <a:custGeom>
              <a:avLst/>
              <a:gdLst/>
              <a:ahLst/>
              <a:cxnLst/>
              <a:rect r="r" b="b" t="t" l="l"/>
              <a:pathLst>
                <a:path h="2037742" w="21805137">
                  <a:moveTo>
                    <a:pt x="0" y="101907"/>
                  </a:moveTo>
                  <a:cubicBezTo>
                    <a:pt x="0" y="45603"/>
                    <a:pt x="57912" y="0"/>
                    <a:pt x="129413" y="0"/>
                  </a:cubicBezTo>
                  <a:lnTo>
                    <a:pt x="21675725" y="0"/>
                  </a:lnTo>
                  <a:cubicBezTo>
                    <a:pt x="21747226" y="0"/>
                    <a:pt x="21805137" y="45603"/>
                    <a:pt x="21805137" y="101907"/>
                  </a:cubicBezTo>
                  <a:lnTo>
                    <a:pt x="21805137" y="1935833"/>
                  </a:lnTo>
                  <a:cubicBezTo>
                    <a:pt x="21805137" y="1992137"/>
                    <a:pt x="21747226" y="2037742"/>
                    <a:pt x="21675725" y="2037742"/>
                  </a:cubicBezTo>
                  <a:lnTo>
                    <a:pt x="129413" y="2037742"/>
                  </a:lnTo>
                  <a:cubicBezTo>
                    <a:pt x="57912" y="2037742"/>
                    <a:pt x="0" y="1992137"/>
                    <a:pt x="0" y="1935833"/>
                  </a:cubicBezTo>
                  <a:close/>
                </a:path>
              </a:pathLst>
            </a:custGeom>
            <a:solidFill>
              <a:srgbClr val="F5F3FF"/>
            </a:solidFill>
            <a:ln w="19065" cap="sq">
              <a:solidFill>
                <a:srgbClr val="9E8CEF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45339" y="8027826"/>
            <a:ext cx="15493118" cy="40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97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Expansion Revenue Models (from Year 2)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5344" y="8525503"/>
            <a:ext cx="8316788" cy="31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b="true" sz="1724" u="sng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Engine 2: Co-Branded Cycle Bundle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3800" y="8887320"/>
            <a:ext cx="7859013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99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Fold Ovify into standard clinic IVF cycles. Clinic charges patients 350 AED, pays Ovify 150 AED, and keeps 200 AED margin (turns software into a profit center for clinics).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96074" y="8525503"/>
            <a:ext cx="6568169" cy="31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b="true" sz="1724" u="sng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Engine 3: Wellness &amp; Partner Network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96074" y="8887320"/>
            <a:ext cx="6910945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599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Earn referral commission fees on opt-in fertility-friendly wellness sessions (yoga, nutritionists) and payment/financing referrals (e.g. Bank Loans).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16862" y="7267327"/>
            <a:ext cx="13587412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3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“Immediate Clinic ROI: Preventing just two canceled cycles per year pays for the entire annual software subscription.”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10. Execution Roadmap &amp; Financials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 phased rollout plan designed to prove clinical value, then scale.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745343"/>
            <a:ext cx="3912118" cy="2539441"/>
            <a:chOff x="0" y="0"/>
            <a:chExt cx="5216157" cy="33859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6144" cy="3385947"/>
            </a:xfrm>
            <a:custGeom>
              <a:avLst/>
              <a:gdLst/>
              <a:ahLst/>
              <a:cxnLst/>
              <a:rect r="r" b="b" t="t" l="l"/>
              <a:pathLst>
                <a:path h="3385947" w="5216144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5046853" y="0"/>
                  </a:lnTo>
                  <a:cubicBezTo>
                    <a:pt x="5140325" y="0"/>
                    <a:pt x="5216144" y="75819"/>
                    <a:pt x="5216144" y="169291"/>
                  </a:cubicBezTo>
                  <a:lnTo>
                    <a:pt x="5216144" y="3216656"/>
                  </a:lnTo>
                  <a:cubicBezTo>
                    <a:pt x="5216144" y="3310128"/>
                    <a:pt x="5140325" y="3385947"/>
                    <a:pt x="5046853" y="3385947"/>
                  </a:cubicBezTo>
                  <a:lnTo>
                    <a:pt x="169291" y="3385947"/>
                  </a:lnTo>
                  <a:cubicBezTo>
                    <a:pt x="75819" y="3385947"/>
                    <a:pt x="0" y="3310128"/>
                    <a:pt x="0" y="32166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4039" y="2940606"/>
            <a:ext cx="480431" cy="480431"/>
            <a:chOff x="0" y="0"/>
            <a:chExt cx="640575" cy="6405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2676" y="2999708"/>
            <a:ext cx="343167" cy="3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90373" y="2990183"/>
            <a:ext cx="2539441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b="true" sz="1801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Months 0 - 4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4039" y="3584343"/>
            <a:ext cx="3225784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1: Build MVP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4039" y="4139022"/>
            <a:ext cx="3225784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Complete Patient app &amp; AI nurse dashboard build.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120068" y="2745343"/>
            <a:ext cx="3912118" cy="2539441"/>
            <a:chOff x="0" y="0"/>
            <a:chExt cx="5216157" cy="33859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6144" cy="3385947"/>
            </a:xfrm>
            <a:custGeom>
              <a:avLst/>
              <a:gdLst/>
              <a:ahLst/>
              <a:cxnLst/>
              <a:rect r="r" b="b" t="t" l="l"/>
              <a:pathLst>
                <a:path h="3385947" w="5216144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5046853" y="0"/>
                  </a:lnTo>
                  <a:cubicBezTo>
                    <a:pt x="5140325" y="0"/>
                    <a:pt x="5216144" y="75819"/>
                    <a:pt x="5216144" y="169291"/>
                  </a:cubicBezTo>
                  <a:lnTo>
                    <a:pt x="5216144" y="3216656"/>
                  </a:lnTo>
                  <a:cubicBezTo>
                    <a:pt x="5216144" y="3310128"/>
                    <a:pt x="5140325" y="3385947"/>
                    <a:pt x="5046853" y="3385947"/>
                  </a:cubicBezTo>
                  <a:lnTo>
                    <a:pt x="169291" y="3385947"/>
                  </a:lnTo>
                  <a:cubicBezTo>
                    <a:pt x="75819" y="3385947"/>
                    <a:pt x="0" y="3310128"/>
                    <a:pt x="0" y="32166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463235" y="2940606"/>
            <a:ext cx="480431" cy="480431"/>
            <a:chOff x="0" y="0"/>
            <a:chExt cx="640575" cy="640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531872" y="2999708"/>
            <a:ext cx="343167" cy="3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9569" y="2990183"/>
            <a:ext cx="2539441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b="true" sz="1801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Months 4 - 6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63235" y="3584343"/>
            <a:ext cx="3225784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2: Live Pilots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63235" y="4139022"/>
            <a:ext cx="3225784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Free pilots with 3 Abu Dhabi clinics; onboard 150 patients.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79265" y="2745343"/>
            <a:ext cx="3912118" cy="2539441"/>
            <a:chOff x="0" y="0"/>
            <a:chExt cx="5216157" cy="33859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6144" cy="3385947"/>
            </a:xfrm>
            <a:custGeom>
              <a:avLst/>
              <a:gdLst/>
              <a:ahLst/>
              <a:cxnLst/>
              <a:rect r="r" b="b" t="t" l="l"/>
              <a:pathLst>
                <a:path h="3385947" w="5216144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5046853" y="0"/>
                  </a:lnTo>
                  <a:cubicBezTo>
                    <a:pt x="5140325" y="0"/>
                    <a:pt x="5216144" y="75819"/>
                    <a:pt x="5216144" y="169291"/>
                  </a:cubicBezTo>
                  <a:lnTo>
                    <a:pt x="5216144" y="3216656"/>
                  </a:lnTo>
                  <a:cubicBezTo>
                    <a:pt x="5216144" y="3310128"/>
                    <a:pt x="5140325" y="3385947"/>
                    <a:pt x="5046853" y="3385947"/>
                  </a:cubicBezTo>
                  <a:lnTo>
                    <a:pt x="169291" y="3385947"/>
                  </a:lnTo>
                  <a:cubicBezTo>
                    <a:pt x="75819" y="3385947"/>
                    <a:pt x="0" y="3310128"/>
                    <a:pt x="0" y="32166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22431" y="2940606"/>
            <a:ext cx="480431" cy="480431"/>
            <a:chOff x="0" y="0"/>
            <a:chExt cx="640575" cy="6405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691068" y="2999708"/>
            <a:ext cx="343167" cy="3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08774" y="2990183"/>
            <a:ext cx="2539441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b="true" sz="1801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Months 7 - 9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22431" y="3584343"/>
            <a:ext cx="3225784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3: Prove Value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22431" y="4139022"/>
            <a:ext cx="3225784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nurse hours saved and dropout rates prevented.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38461" y="2745343"/>
            <a:ext cx="3912118" cy="2539441"/>
            <a:chOff x="0" y="0"/>
            <a:chExt cx="5216157" cy="33859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6144" cy="3385947"/>
            </a:xfrm>
            <a:custGeom>
              <a:avLst/>
              <a:gdLst/>
              <a:ahLst/>
              <a:cxnLst/>
              <a:rect r="r" b="b" t="t" l="l"/>
              <a:pathLst>
                <a:path h="3385947" w="5216144">
                  <a:moveTo>
                    <a:pt x="0" y="169291"/>
                  </a:moveTo>
                  <a:cubicBezTo>
                    <a:pt x="0" y="75819"/>
                    <a:pt x="75819" y="0"/>
                    <a:pt x="169291" y="0"/>
                  </a:cubicBezTo>
                  <a:lnTo>
                    <a:pt x="5046853" y="0"/>
                  </a:lnTo>
                  <a:cubicBezTo>
                    <a:pt x="5140325" y="0"/>
                    <a:pt x="5216144" y="75819"/>
                    <a:pt x="5216144" y="169291"/>
                  </a:cubicBezTo>
                  <a:lnTo>
                    <a:pt x="5216144" y="3216656"/>
                  </a:lnTo>
                  <a:cubicBezTo>
                    <a:pt x="5216144" y="3310128"/>
                    <a:pt x="5140325" y="3385947"/>
                    <a:pt x="5046853" y="3385947"/>
                  </a:cubicBezTo>
                  <a:lnTo>
                    <a:pt x="169291" y="3385947"/>
                  </a:lnTo>
                  <a:cubicBezTo>
                    <a:pt x="75819" y="3385947"/>
                    <a:pt x="0" y="3310128"/>
                    <a:pt x="0" y="32166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81627" y="2940606"/>
            <a:ext cx="480431" cy="480431"/>
            <a:chOff x="0" y="0"/>
            <a:chExt cx="640575" cy="6405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3850264" y="2999708"/>
            <a:ext cx="343167" cy="3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</a:pPr>
            <a:r>
              <a:rPr lang="en-US" sz="16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67970" y="2990183"/>
            <a:ext cx="2539441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b="true" sz="1801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Months 10 - 12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781627" y="3584343"/>
            <a:ext cx="3225784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4: Convert &amp; Paid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81627" y="4139022"/>
            <a:ext cx="3225784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 2 out of 3 pilots into paid annual contracts.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872" y="5559323"/>
            <a:ext cx="7549696" cy="3843480"/>
            <a:chOff x="0" y="0"/>
            <a:chExt cx="10066261" cy="5124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66350" cy="5124704"/>
            </a:xfrm>
            <a:custGeom>
              <a:avLst/>
              <a:gdLst/>
              <a:ahLst/>
              <a:cxnLst/>
              <a:rect r="r" b="b" t="t" l="l"/>
              <a:pathLst>
                <a:path h="5124704" w="10066350">
                  <a:moveTo>
                    <a:pt x="0" y="256286"/>
                  </a:moveTo>
                  <a:cubicBezTo>
                    <a:pt x="0" y="114681"/>
                    <a:pt x="108749" y="0"/>
                    <a:pt x="243030" y="0"/>
                  </a:cubicBezTo>
                  <a:lnTo>
                    <a:pt x="9823316" y="0"/>
                  </a:lnTo>
                  <a:cubicBezTo>
                    <a:pt x="9957476" y="0"/>
                    <a:pt x="10066350" y="114681"/>
                    <a:pt x="10066350" y="256286"/>
                  </a:cubicBezTo>
                  <a:lnTo>
                    <a:pt x="10066350" y="4868418"/>
                  </a:lnTo>
                  <a:cubicBezTo>
                    <a:pt x="10066350" y="5009896"/>
                    <a:pt x="9957597" y="5124704"/>
                    <a:pt x="9823316" y="5124704"/>
                  </a:cubicBezTo>
                  <a:lnTo>
                    <a:pt x="243030" y="5124704"/>
                  </a:lnTo>
                  <a:cubicBezTo>
                    <a:pt x="108749" y="5124704"/>
                    <a:pt x="0" y="5009896"/>
                    <a:pt x="0" y="48684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72676" y="5698550"/>
            <a:ext cx="7137892" cy="5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Three-Year Projections (Bottom-Up Model)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2676" y="6266669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501" b="true">
                <a:solidFill>
                  <a:srgbClr val="4A55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Metric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118019" y="6266669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501" b="true">
                <a:solidFill>
                  <a:srgbClr val="4A55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90686" y="6266669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501" b="true">
                <a:solidFill>
                  <a:srgbClr val="4A55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63363" y="6266669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501" b="true">
                <a:solidFill>
                  <a:srgbClr val="4A55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Year 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72676" y="6678473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Paying Clinics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118019" y="6678473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490686" y="6678473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863363" y="6678473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56124" y="7137892"/>
            <a:ext cx="7159192" cy="411804"/>
            <a:chOff x="0" y="0"/>
            <a:chExt cx="9545590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45603" cy="549021"/>
            </a:xfrm>
            <a:custGeom>
              <a:avLst/>
              <a:gdLst/>
              <a:ahLst/>
              <a:cxnLst/>
              <a:rect r="r" b="b" t="t" l="l"/>
              <a:pathLst>
                <a:path h="549021" w="9545603">
                  <a:moveTo>
                    <a:pt x="0" y="0"/>
                  </a:moveTo>
                  <a:lnTo>
                    <a:pt x="9545603" y="0"/>
                  </a:lnTo>
                  <a:lnTo>
                    <a:pt x="954560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F5F3F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372676" y="7158904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Cycles Processed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18019" y="7158904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400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90686" y="7158904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2,200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63363" y="7158904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5,500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72676" y="7639336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Total Revenue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118019" y="7639336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131.5K AED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490686" y="7639336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885K AED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863363" y="7639336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2.32M AED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156124" y="8098765"/>
            <a:ext cx="7159192" cy="411804"/>
            <a:chOff x="0" y="0"/>
            <a:chExt cx="9545590" cy="5490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45603" cy="549021"/>
            </a:xfrm>
            <a:custGeom>
              <a:avLst/>
              <a:gdLst/>
              <a:ahLst/>
              <a:cxnLst/>
              <a:rect r="r" b="b" t="t" l="l"/>
              <a:pathLst>
                <a:path h="549021" w="9545603">
                  <a:moveTo>
                    <a:pt x="0" y="0"/>
                  </a:moveTo>
                  <a:lnTo>
                    <a:pt x="9545603" y="0"/>
                  </a:lnTo>
                  <a:lnTo>
                    <a:pt x="9545603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F5F3FF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372676" y="8119777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Operating Costs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118019" y="8119777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511.5K AED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490686" y="8119777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809.6K AED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63363" y="8119777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1.20M AED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72676" y="8600208"/>
            <a:ext cx="2333539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Net Profit / (Loss)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118019" y="8600208"/>
            <a:ext cx="1098137" cy="45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sz="1426">
                <a:solidFill>
                  <a:srgbClr val="132035"/>
                </a:solidFill>
                <a:latin typeface="Calibri (MS)"/>
                <a:ea typeface="Calibri (MS)"/>
                <a:cs typeface="Calibri (MS)"/>
                <a:sym typeface="Calibri (MS)"/>
              </a:rPr>
              <a:t>(380K AED)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490686" y="8600208"/>
            <a:ext cx="1098137" cy="2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b="true" sz="1426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+75.4K AED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863363" y="8600208"/>
            <a:ext cx="1098137" cy="2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2"/>
              </a:lnSpc>
            </a:pPr>
            <a:r>
              <a:rPr lang="en-US" b="true" sz="1426">
                <a:solidFill>
                  <a:srgbClr val="00BF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+1.12M AED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196902" y="5559323"/>
            <a:ext cx="8098765" cy="3843480"/>
            <a:chOff x="0" y="0"/>
            <a:chExt cx="10798353" cy="5124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98429" cy="5124704"/>
            </a:xfrm>
            <a:custGeom>
              <a:avLst/>
              <a:gdLst/>
              <a:ahLst/>
              <a:cxnLst/>
              <a:rect r="r" b="b" t="t" l="l"/>
              <a:pathLst>
                <a:path h="5124704" w="10798429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10542143" y="0"/>
                  </a:lnTo>
                  <a:cubicBezTo>
                    <a:pt x="10683622" y="0"/>
                    <a:pt x="10798429" y="114681"/>
                    <a:pt x="10798429" y="256286"/>
                  </a:cubicBezTo>
                  <a:lnTo>
                    <a:pt x="10798429" y="4868418"/>
                  </a:lnTo>
                  <a:cubicBezTo>
                    <a:pt x="10798429" y="5009896"/>
                    <a:pt x="10683749" y="5124704"/>
                    <a:pt x="10542143" y="5124704"/>
                  </a:cubicBezTo>
                  <a:lnTo>
                    <a:pt x="256286" y="5124704"/>
                  </a:lnTo>
                  <a:cubicBezTo>
                    <a:pt x="114681" y="5124704"/>
                    <a:pt x="0" y="5009896"/>
                    <a:pt x="0" y="486841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9608706" y="5698550"/>
            <a:ext cx="7275166" cy="47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Projected Revenue Growth (AED)</a:t>
            </a:r>
          </a:p>
        </p:txBody>
      </p:sp>
      <p:pic>
        <p:nvPicPr>
          <p:cNvPr name="Picture 74" id="7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565476" y="5408330"/>
            <a:ext cx="9224358" cy="4557272"/>
          </a:xfrm>
          <a:prstGeom prst="rect">
            <a:avLst/>
          </a:prstGeom>
        </p:spPr>
      </p:pic>
      <p:sp>
        <p:nvSpPr>
          <p:cNvPr name="TextBox 75" id="75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11. The 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Lived IVF patient experience combined with enterprise cloud architecture.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08078"/>
            <a:ext cx="7961500" cy="6177029"/>
            <a:chOff x="0" y="0"/>
            <a:chExt cx="10615333" cy="82360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422" cy="8236077"/>
            </a:xfrm>
            <a:custGeom>
              <a:avLst/>
              <a:gdLst/>
              <a:ahLst/>
              <a:cxnLst/>
              <a:rect r="r" b="b" t="t" l="l"/>
              <a:pathLst>
                <a:path h="8236077" w="10615422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10203561" y="0"/>
                  </a:lnTo>
                  <a:cubicBezTo>
                    <a:pt x="10431018" y="0"/>
                    <a:pt x="10615422" y="184404"/>
                    <a:pt x="10615422" y="411861"/>
                  </a:cubicBezTo>
                  <a:lnTo>
                    <a:pt x="10615422" y="7824216"/>
                  </a:lnTo>
                  <a:cubicBezTo>
                    <a:pt x="10615422" y="8051673"/>
                    <a:pt x="10431018" y="8236077"/>
                    <a:pt x="10203561" y="8236077"/>
                  </a:cubicBezTo>
                  <a:lnTo>
                    <a:pt x="411861" y="8236077"/>
                  </a:lnTo>
                  <a:cubicBezTo>
                    <a:pt x="184404" y="8236077"/>
                    <a:pt x="0" y="8051673"/>
                    <a:pt x="0" y="7824216"/>
                  </a:cubicBezTo>
                  <a:close/>
                </a:path>
              </a:pathLst>
            </a:custGeom>
            <a:solidFill>
              <a:srgbClr val="13233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9932" y="3184598"/>
            <a:ext cx="1471752" cy="1986353"/>
            <a:chOff x="0" y="0"/>
            <a:chExt cx="2196274" cy="2964205"/>
          </a:xfrm>
        </p:grpSpPr>
        <p:sp>
          <p:nvSpPr>
            <p:cNvPr name="Freeform 11" id="11" descr="Headshot.png"/>
            <p:cNvSpPr/>
            <p:nvPr/>
          </p:nvSpPr>
          <p:spPr>
            <a:xfrm flipH="false" flipV="false" rot="0">
              <a:off x="0" y="0"/>
              <a:ext cx="2196338" cy="2964180"/>
            </a:xfrm>
            <a:custGeom>
              <a:avLst/>
              <a:gdLst/>
              <a:ahLst/>
              <a:cxnLst/>
              <a:rect r="r" b="b" t="t" l="l"/>
              <a:pathLst>
                <a:path h="2964180" w="2196338">
                  <a:moveTo>
                    <a:pt x="213210" y="0"/>
                  </a:moveTo>
                  <a:lnTo>
                    <a:pt x="1983128" y="0"/>
                  </a:lnTo>
                  <a:cubicBezTo>
                    <a:pt x="2039675" y="0"/>
                    <a:pt x="2093906" y="22463"/>
                    <a:pt x="2133890" y="62448"/>
                  </a:cubicBezTo>
                  <a:cubicBezTo>
                    <a:pt x="2173875" y="102433"/>
                    <a:pt x="2196338" y="156663"/>
                    <a:pt x="2196338" y="213210"/>
                  </a:cubicBezTo>
                  <a:lnTo>
                    <a:pt x="2196338" y="2750970"/>
                  </a:lnTo>
                  <a:cubicBezTo>
                    <a:pt x="2196338" y="2807517"/>
                    <a:pt x="2173875" y="2861747"/>
                    <a:pt x="2133890" y="2901732"/>
                  </a:cubicBezTo>
                  <a:cubicBezTo>
                    <a:pt x="2093906" y="2941717"/>
                    <a:pt x="2039675" y="2964180"/>
                    <a:pt x="1983128" y="2964180"/>
                  </a:cubicBezTo>
                  <a:lnTo>
                    <a:pt x="213210" y="2964180"/>
                  </a:lnTo>
                  <a:cubicBezTo>
                    <a:pt x="156663" y="2964180"/>
                    <a:pt x="102433" y="2941717"/>
                    <a:pt x="62448" y="2901732"/>
                  </a:cubicBezTo>
                  <a:cubicBezTo>
                    <a:pt x="22463" y="2861747"/>
                    <a:pt x="0" y="2807517"/>
                    <a:pt x="0" y="2750970"/>
                  </a:cubicBezTo>
                  <a:lnTo>
                    <a:pt x="0" y="213210"/>
                  </a:lnTo>
                  <a:cubicBezTo>
                    <a:pt x="0" y="156663"/>
                    <a:pt x="22463" y="102433"/>
                    <a:pt x="62448" y="62448"/>
                  </a:cubicBezTo>
                  <a:cubicBezTo>
                    <a:pt x="102433" y="22463"/>
                    <a:pt x="156663" y="0"/>
                    <a:pt x="21321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31677" y="3267799"/>
            <a:ext cx="4941618" cy="64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0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Samaneh Khaleghi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1677" y="3992232"/>
            <a:ext cx="4941618" cy="53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2026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Founder &amp; CEO  |  Ovify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9932" y="6067615"/>
            <a:ext cx="6863363" cy="222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• Lived Experience: 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Went through four personal IVF treatment cycles, providing a deep, personal understanding of patient challenges.</a:t>
            </a:r>
          </a:p>
          <a:p>
            <a:pPr algn="l">
              <a:lnSpc>
                <a:spcPts val="2483"/>
              </a:lnSpc>
            </a:pP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• Technical Expertise: </a:t>
            </a:r>
          </a:p>
          <a:p>
            <a:pPr algn="l">
              <a:lnSpc>
                <a:spcPts val="2483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15+ years in Enterprise Cloud Architecture, Banking Infrastructure Transformation, and Cloud Systems Delivery.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89097" y="2608078"/>
            <a:ext cx="7870203" cy="1372676"/>
            <a:chOff x="0" y="0"/>
            <a:chExt cx="10493604" cy="1830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93680" cy="1830324"/>
            </a:xfrm>
            <a:custGeom>
              <a:avLst/>
              <a:gdLst/>
              <a:ahLst/>
              <a:cxnLst/>
              <a:rect r="r" b="b" t="t" l="l"/>
              <a:pathLst>
                <a:path h="1830324" w="10493680">
                  <a:moveTo>
                    <a:pt x="0" y="91567"/>
                  </a:moveTo>
                  <a:cubicBezTo>
                    <a:pt x="0" y="41021"/>
                    <a:pt x="39863" y="0"/>
                    <a:pt x="88983" y="0"/>
                  </a:cubicBezTo>
                  <a:lnTo>
                    <a:pt x="10404695" y="0"/>
                  </a:lnTo>
                  <a:cubicBezTo>
                    <a:pt x="10453814" y="0"/>
                    <a:pt x="10493680" y="41021"/>
                    <a:pt x="10493680" y="91567"/>
                  </a:cubicBezTo>
                  <a:lnTo>
                    <a:pt x="10493680" y="1738757"/>
                  </a:lnTo>
                  <a:cubicBezTo>
                    <a:pt x="10493680" y="1789303"/>
                    <a:pt x="10453814" y="1830324"/>
                    <a:pt x="10404695" y="1830324"/>
                  </a:cubicBezTo>
                  <a:lnTo>
                    <a:pt x="88983" y="1830324"/>
                  </a:lnTo>
                  <a:cubicBezTo>
                    <a:pt x="39863" y="1830324"/>
                    <a:pt x="0" y="1789303"/>
                    <a:pt x="0" y="17387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89097" y="2608078"/>
            <a:ext cx="137265" cy="1372676"/>
            <a:chOff x="0" y="0"/>
            <a:chExt cx="183020" cy="1830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0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32264" y="2706119"/>
            <a:ext cx="7412431" cy="36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2x Senior Developers (Full-Stack &amp; Mobile) </a:t>
            </a:r>
            <a:r>
              <a:rPr lang="en-US" sz="1951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- To be hired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2264" y="3136973"/>
            <a:ext cx="7412431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Offshore resources. Build AI platform backend, database APIs, AI engine, and PWA companion apps.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89097" y="4186647"/>
            <a:ext cx="7870203" cy="1372676"/>
            <a:chOff x="0" y="0"/>
            <a:chExt cx="10493604" cy="18302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93680" cy="1830324"/>
            </a:xfrm>
            <a:custGeom>
              <a:avLst/>
              <a:gdLst/>
              <a:ahLst/>
              <a:cxnLst/>
              <a:rect r="r" b="b" t="t" l="l"/>
              <a:pathLst>
                <a:path h="1830324" w="10493680">
                  <a:moveTo>
                    <a:pt x="0" y="91567"/>
                  </a:moveTo>
                  <a:cubicBezTo>
                    <a:pt x="0" y="41021"/>
                    <a:pt x="39863" y="0"/>
                    <a:pt x="88983" y="0"/>
                  </a:cubicBezTo>
                  <a:lnTo>
                    <a:pt x="10404695" y="0"/>
                  </a:lnTo>
                  <a:cubicBezTo>
                    <a:pt x="10453814" y="0"/>
                    <a:pt x="10493680" y="41021"/>
                    <a:pt x="10493680" y="91567"/>
                  </a:cubicBezTo>
                  <a:lnTo>
                    <a:pt x="10493680" y="1738757"/>
                  </a:lnTo>
                  <a:cubicBezTo>
                    <a:pt x="10493680" y="1789303"/>
                    <a:pt x="10453814" y="1830324"/>
                    <a:pt x="10404695" y="1830324"/>
                  </a:cubicBezTo>
                  <a:lnTo>
                    <a:pt x="88983" y="1830324"/>
                  </a:lnTo>
                  <a:cubicBezTo>
                    <a:pt x="39863" y="1830324"/>
                    <a:pt x="0" y="1789303"/>
                    <a:pt x="0" y="17387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89097" y="4186647"/>
            <a:ext cx="137265" cy="1372676"/>
            <a:chOff x="0" y="0"/>
            <a:chExt cx="183020" cy="18302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0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32264" y="4284697"/>
            <a:ext cx="7412431" cy="36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 / UX Experience Designer -</a:t>
            </a:r>
            <a:r>
              <a:rPr lang="en-US" sz="1951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 To be hired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2264" y="4715551"/>
            <a:ext cx="7412431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Offshore resource. Focuses on the patient app and clinical coordinator dashboard: clean, calm, and simple layout.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89097" y="5765225"/>
            <a:ext cx="7870203" cy="1372676"/>
            <a:chOff x="0" y="0"/>
            <a:chExt cx="10493604" cy="18302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93680" cy="1830324"/>
            </a:xfrm>
            <a:custGeom>
              <a:avLst/>
              <a:gdLst/>
              <a:ahLst/>
              <a:cxnLst/>
              <a:rect r="r" b="b" t="t" l="l"/>
              <a:pathLst>
                <a:path h="1830324" w="10493680">
                  <a:moveTo>
                    <a:pt x="0" y="91567"/>
                  </a:moveTo>
                  <a:cubicBezTo>
                    <a:pt x="0" y="41021"/>
                    <a:pt x="39863" y="0"/>
                    <a:pt x="88983" y="0"/>
                  </a:cubicBezTo>
                  <a:lnTo>
                    <a:pt x="10404695" y="0"/>
                  </a:lnTo>
                  <a:cubicBezTo>
                    <a:pt x="10453814" y="0"/>
                    <a:pt x="10493680" y="41021"/>
                    <a:pt x="10493680" y="91567"/>
                  </a:cubicBezTo>
                  <a:lnTo>
                    <a:pt x="10493680" y="1738757"/>
                  </a:lnTo>
                  <a:cubicBezTo>
                    <a:pt x="10493680" y="1789303"/>
                    <a:pt x="10453814" y="1830324"/>
                    <a:pt x="10404695" y="1830324"/>
                  </a:cubicBezTo>
                  <a:lnTo>
                    <a:pt x="88983" y="1830324"/>
                  </a:lnTo>
                  <a:cubicBezTo>
                    <a:pt x="39863" y="1830324"/>
                    <a:pt x="0" y="1789303"/>
                    <a:pt x="0" y="17387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89097" y="5765225"/>
            <a:ext cx="137265" cy="1372676"/>
            <a:chOff x="0" y="0"/>
            <a:chExt cx="183020" cy="18302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30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732264" y="5863266"/>
            <a:ext cx="7412431" cy="36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Medical &amp; Clinical Advisor </a:t>
            </a:r>
            <a:r>
              <a:rPr lang="en-US" sz="1951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- To be hired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32264" y="6294120"/>
            <a:ext cx="7412431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Informal advising regional IVF doctor. Validates clinical credibility, protocol structures, and coordinates pilot introductions.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89097" y="7343794"/>
            <a:ext cx="7870203" cy="1372676"/>
            <a:chOff x="0" y="0"/>
            <a:chExt cx="10493604" cy="18302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93680" cy="1830324"/>
            </a:xfrm>
            <a:custGeom>
              <a:avLst/>
              <a:gdLst/>
              <a:ahLst/>
              <a:cxnLst/>
              <a:rect r="r" b="b" t="t" l="l"/>
              <a:pathLst>
                <a:path h="1830324" w="10493680">
                  <a:moveTo>
                    <a:pt x="0" y="91567"/>
                  </a:moveTo>
                  <a:cubicBezTo>
                    <a:pt x="0" y="41021"/>
                    <a:pt x="39863" y="0"/>
                    <a:pt x="88983" y="0"/>
                  </a:cubicBezTo>
                  <a:lnTo>
                    <a:pt x="10404695" y="0"/>
                  </a:lnTo>
                  <a:cubicBezTo>
                    <a:pt x="10453814" y="0"/>
                    <a:pt x="10493680" y="41021"/>
                    <a:pt x="10493680" y="91567"/>
                  </a:cubicBezTo>
                  <a:lnTo>
                    <a:pt x="10493680" y="1738757"/>
                  </a:lnTo>
                  <a:cubicBezTo>
                    <a:pt x="10493680" y="1789303"/>
                    <a:pt x="10453814" y="1830324"/>
                    <a:pt x="10404695" y="1830324"/>
                  </a:cubicBezTo>
                  <a:lnTo>
                    <a:pt x="88983" y="1830324"/>
                  </a:lnTo>
                  <a:cubicBezTo>
                    <a:pt x="39863" y="1830324"/>
                    <a:pt x="0" y="1789303"/>
                    <a:pt x="0" y="17387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389097" y="7343794"/>
            <a:ext cx="137265" cy="1372676"/>
            <a:chOff x="0" y="0"/>
            <a:chExt cx="183020" cy="18302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3007" cy="1830197"/>
            </a:xfrm>
            <a:custGeom>
              <a:avLst/>
              <a:gdLst/>
              <a:ahLst/>
              <a:cxnLst/>
              <a:rect r="r" b="b" t="t" l="l"/>
              <a:pathLst>
                <a:path h="1830197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32264" y="7441844"/>
            <a:ext cx="7412431" cy="360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6"/>
              </a:lnSpc>
            </a:pPr>
            <a:r>
              <a:rPr lang="en-US" sz="1951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Sales &amp; Commercial </a:t>
            </a:r>
            <a:r>
              <a:rPr lang="en-US" sz="1951">
                <a:solidFill>
                  <a:srgbClr val="13233C"/>
                </a:solidFill>
                <a:latin typeface="Calibri (MS)"/>
                <a:ea typeface="Calibri (MS)"/>
                <a:cs typeface="Calibri (MS)"/>
                <a:sym typeface="Calibri (MS)"/>
              </a:rPr>
              <a:t>- To be hired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32264" y="7872698"/>
            <a:ext cx="7412431" cy="60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Planned Year 2 hire. Key commercial resource responsible for pilot-to-paid conversions and GCC clinical expansions.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12. Why Hub71 &amp; Abu Dhabi?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9E8CEF"/>
                </a:solidFill>
                <a:latin typeface="Calibri (MS)"/>
                <a:ea typeface="Calibri (MS)"/>
                <a:cs typeface="Calibri (MS)"/>
                <a:sym typeface="Calibri (MS)"/>
              </a:rPr>
              <a:t>The fastest path to build a regional, regulated health-technology company.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746865" cy="754971"/>
            <a:chOff x="0" y="0"/>
            <a:chExt cx="995820" cy="1006627"/>
          </a:xfrm>
        </p:grpSpPr>
        <p:sp>
          <p:nvSpPr>
            <p:cNvPr name="Freeform 5" id="5" descr="Logo-BlueBackground.jpg"/>
            <p:cNvSpPr/>
            <p:nvPr/>
          </p:nvSpPr>
          <p:spPr>
            <a:xfrm flipH="false" flipV="false" rot="0">
              <a:off x="0" y="0"/>
              <a:ext cx="995807" cy="1006602"/>
            </a:xfrm>
            <a:custGeom>
              <a:avLst/>
              <a:gdLst/>
              <a:ahLst/>
              <a:cxnLst/>
              <a:rect r="r" b="b" t="t" l="l"/>
              <a:pathLst>
                <a:path h="1006602" w="995807">
                  <a:moveTo>
                    <a:pt x="0" y="0"/>
                  </a:moveTo>
                  <a:lnTo>
                    <a:pt x="995807" y="0"/>
                  </a:lnTo>
                  <a:lnTo>
                    <a:pt x="995807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9E8CE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3019882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lnTo>
                    <a:pt x="6698615" y="0"/>
                  </a:lnTo>
                  <a:cubicBezTo>
                    <a:pt x="6890639" y="0"/>
                    <a:pt x="7046341" y="155702"/>
                    <a:pt x="7046341" y="347726"/>
                  </a:cubicBezTo>
                  <a:lnTo>
                    <a:pt x="7046341" y="6607175"/>
                  </a:lnTo>
                  <a:cubicBezTo>
                    <a:pt x="7046341" y="6799199"/>
                    <a:pt x="6890639" y="6954901"/>
                    <a:pt x="6698615" y="6954901"/>
                  </a:cubicBezTo>
                  <a:lnTo>
                    <a:pt x="347726" y="6954901"/>
                  </a:lnTo>
                  <a:cubicBezTo>
                    <a:pt x="155702" y="6954901"/>
                    <a:pt x="0" y="6799199"/>
                    <a:pt x="0" y="6607175"/>
                  </a:cubicBezTo>
                  <a:close/>
                </a:path>
              </a:pathLst>
            </a:custGeom>
            <a:solidFill>
              <a:srgbClr val="09122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1304" y="3431677"/>
            <a:ext cx="617706" cy="617706"/>
            <a:chOff x="0" y="0"/>
            <a:chExt cx="823608" cy="8236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41304" y="3525522"/>
            <a:ext cx="6177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87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64912" y="3549458"/>
            <a:ext cx="35003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Strategic Introductions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1304" y="4394511"/>
            <a:ext cx="4323921" cy="68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 Clinical Pilot Access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304" y="5208584"/>
            <a:ext cx="4323921" cy="25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Hub71's network and healthcare partnerships (like Daman, SEHA, Cleveland Clinic) help us open the hardest door: direct, credible access to clinical pilot sites.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0196" y="3019882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lnTo>
                    <a:pt x="6698615" y="0"/>
                  </a:lnTo>
                  <a:cubicBezTo>
                    <a:pt x="6890639" y="0"/>
                    <a:pt x="7046341" y="155702"/>
                    <a:pt x="7046341" y="347726"/>
                  </a:cubicBezTo>
                  <a:lnTo>
                    <a:pt x="7046341" y="6607175"/>
                  </a:lnTo>
                  <a:cubicBezTo>
                    <a:pt x="7046341" y="6799199"/>
                    <a:pt x="6890639" y="6954901"/>
                    <a:pt x="6698615" y="6954901"/>
                  </a:cubicBezTo>
                  <a:lnTo>
                    <a:pt x="347726" y="6954901"/>
                  </a:lnTo>
                  <a:cubicBezTo>
                    <a:pt x="155702" y="6954901"/>
                    <a:pt x="0" y="6799199"/>
                    <a:pt x="0" y="6607175"/>
                  </a:cubicBezTo>
                  <a:close/>
                </a:path>
              </a:pathLst>
            </a:custGeom>
            <a:solidFill>
              <a:srgbClr val="09122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00627" y="3431677"/>
            <a:ext cx="617706" cy="617706"/>
            <a:chOff x="0" y="0"/>
            <a:chExt cx="823608" cy="823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000627" y="3549458"/>
            <a:ext cx="6177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87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24235" y="3549458"/>
            <a:ext cx="35003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Regulatory Alignment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00627" y="4394511"/>
            <a:ext cx="4323921" cy="68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Aligned with Department of Health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00627" y="5208584"/>
            <a:ext cx="4323921" cy="25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Abu Dhabi's DoH vision, the Malaffi unified health information exchange, and ADGM data regulations align perfectly with Ovify. Compliance is built in from day one.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79519" y="3019882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lnTo>
                    <a:pt x="6698615" y="0"/>
                  </a:lnTo>
                  <a:cubicBezTo>
                    <a:pt x="6890639" y="0"/>
                    <a:pt x="7046341" y="155702"/>
                    <a:pt x="7046341" y="347726"/>
                  </a:cubicBezTo>
                  <a:lnTo>
                    <a:pt x="7046341" y="6607175"/>
                  </a:lnTo>
                  <a:cubicBezTo>
                    <a:pt x="7046341" y="6799199"/>
                    <a:pt x="6890639" y="6954901"/>
                    <a:pt x="6698615" y="6954901"/>
                  </a:cubicBezTo>
                  <a:lnTo>
                    <a:pt x="347726" y="6954901"/>
                  </a:lnTo>
                  <a:cubicBezTo>
                    <a:pt x="155702" y="6954901"/>
                    <a:pt x="0" y="6799199"/>
                    <a:pt x="0" y="6607175"/>
                  </a:cubicBezTo>
                  <a:close/>
                </a:path>
              </a:pathLst>
            </a:custGeom>
            <a:solidFill>
              <a:srgbClr val="09122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559951" y="3431677"/>
            <a:ext cx="617706" cy="617706"/>
            <a:chOff x="0" y="0"/>
            <a:chExt cx="823608" cy="8236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3595" cy="823595"/>
            </a:xfrm>
            <a:custGeom>
              <a:avLst/>
              <a:gdLst/>
              <a:ahLst/>
              <a:cxnLst/>
              <a:rect r="r" b="b" t="t" l="l"/>
              <a:pathLst>
                <a:path h="823595" w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cubicBezTo>
                    <a:pt x="639318" y="0"/>
                    <a:pt x="823595" y="184404"/>
                    <a:pt x="823595" y="411861"/>
                  </a:cubicBezTo>
                  <a:cubicBezTo>
                    <a:pt x="823595" y="639318"/>
                    <a:pt x="639191" y="823595"/>
                    <a:pt x="411861" y="823595"/>
                  </a:cubicBezTo>
                  <a:cubicBezTo>
                    <a:pt x="184531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59951" y="3549458"/>
            <a:ext cx="617706" cy="46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876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83558" y="3549458"/>
            <a:ext cx="35003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 b="true">
                <a:solidFill>
                  <a:srgbClr val="9E8CE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 Optimization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59951" y="4394511"/>
            <a:ext cx="4323921" cy="68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4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Runway Capital Efficiency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59951" y="5208584"/>
            <a:ext cx="4323921" cy="254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Subsidized office space, housing support, and licensing incentives stretch our capital runway, accelerating our path to profitability.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0872" y="8453418"/>
            <a:ext cx="16334804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5"/>
              </a:lnSpc>
            </a:pPr>
            <a:r>
              <a:rPr lang="en-US" b="true" sz="2026" i="true">
                <a:solidFill>
                  <a:srgbClr val="FAABAB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"Abu Dhabi provides the network, the clinical integration, and the regulation to transform an unsolved medical problem into a global benchmark."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872" y="484356"/>
            <a:ext cx="15099392" cy="123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203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13. Funding 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872" y="1511894"/>
            <a:ext cx="15099392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Seed capital request to achieve a revenue-ready MVP and paid conversions.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746607" y="549069"/>
            <a:ext cx="1109339" cy="754971"/>
            <a:chOff x="0" y="0"/>
            <a:chExt cx="1479118" cy="1006627"/>
          </a:xfrm>
        </p:grpSpPr>
        <p:sp>
          <p:nvSpPr>
            <p:cNvPr name="Freeform 5" id="5" descr="Logo-OvaSync.jpg"/>
            <p:cNvSpPr/>
            <p:nvPr/>
          </p:nvSpPr>
          <p:spPr>
            <a:xfrm flipH="false" flipV="false" rot="0">
              <a:off x="0" y="0"/>
              <a:ext cx="1479169" cy="1006602"/>
            </a:xfrm>
            <a:custGeom>
              <a:avLst/>
              <a:gdLst/>
              <a:ahLst/>
              <a:cxnLst/>
              <a:rect r="r" b="b" t="t" l="l"/>
              <a:pathLst>
                <a:path h="1006602" w="1479169">
                  <a:moveTo>
                    <a:pt x="0" y="0"/>
                  </a:moveTo>
                  <a:lnTo>
                    <a:pt x="1479169" y="0"/>
                  </a:lnTo>
                  <a:lnTo>
                    <a:pt x="1479169" y="1006602"/>
                  </a:lnTo>
                  <a:lnTo>
                    <a:pt x="0" y="1006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264912"/>
            <a:ext cx="16334804" cy="27451"/>
            <a:chOff x="0" y="0"/>
            <a:chExt cx="21779738" cy="36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79737" cy="36576"/>
            </a:xfrm>
            <a:custGeom>
              <a:avLst/>
              <a:gdLst/>
              <a:ahLst/>
              <a:cxnLst/>
              <a:rect r="r" b="b" t="t" l="l"/>
              <a:pathLst>
                <a:path h="36576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608078"/>
            <a:ext cx="5765225" cy="6177029"/>
            <a:chOff x="0" y="0"/>
            <a:chExt cx="7686967" cy="82360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86929" cy="8235950"/>
            </a:xfrm>
            <a:custGeom>
              <a:avLst/>
              <a:gdLst/>
              <a:ahLst/>
              <a:cxnLst/>
              <a:rect r="r" b="b" t="t" l="l"/>
              <a:pathLst>
                <a:path h="8235950" w="7686929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7302627" y="0"/>
                  </a:lnTo>
                  <a:cubicBezTo>
                    <a:pt x="7514844" y="0"/>
                    <a:pt x="7686929" y="172085"/>
                    <a:pt x="7686929" y="384302"/>
                  </a:cubicBezTo>
                  <a:lnTo>
                    <a:pt x="7686929" y="7851648"/>
                  </a:lnTo>
                  <a:cubicBezTo>
                    <a:pt x="7686929" y="8063865"/>
                    <a:pt x="7514844" y="8235950"/>
                    <a:pt x="7302627" y="8235950"/>
                  </a:cubicBezTo>
                  <a:lnTo>
                    <a:pt x="384302" y="8235950"/>
                  </a:lnTo>
                  <a:cubicBezTo>
                    <a:pt x="172085" y="8236077"/>
                    <a:pt x="0" y="8063992"/>
                    <a:pt x="0" y="7851648"/>
                  </a:cubicBezTo>
                  <a:close/>
                </a:path>
              </a:pathLst>
            </a:custGeom>
            <a:solidFill>
              <a:srgbClr val="13233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9941" y="2943682"/>
            <a:ext cx="4667088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Seed 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941" y="3387976"/>
            <a:ext cx="4667088" cy="100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3"/>
              </a:lnSpc>
            </a:pPr>
            <a:r>
              <a:rPr lang="en-US" sz="54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500,000 AED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9941" y="4404036"/>
            <a:ext cx="4667088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000">
                <a:solidFill>
                  <a:srgbClr val="9E8CEF"/>
                </a:solidFill>
                <a:latin typeface="Calibri (MS)"/>
                <a:ea typeface="Calibri (MS)"/>
                <a:cs typeface="Calibri (MS)"/>
                <a:sym typeface="Calibri (MS)"/>
              </a:rPr>
              <a:t>Equivalent to $136,000 USD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09941" y="5078892"/>
            <a:ext cx="4667088" cy="20593"/>
            <a:chOff x="0" y="0"/>
            <a:chExt cx="6222784" cy="274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2746" cy="27432"/>
            </a:xfrm>
            <a:custGeom>
              <a:avLst/>
              <a:gdLst/>
              <a:ahLst/>
              <a:cxnLst/>
              <a:rect r="r" b="b" t="t" l="l"/>
              <a:pathLst>
                <a:path h="27432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4A556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09941" y="5277221"/>
            <a:ext cx="4667088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Runway Timeline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9941" y="5767178"/>
            <a:ext cx="4667088" cy="7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10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 Months (to operational profitability)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9941" y="6649898"/>
            <a:ext cx="4667088" cy="99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✓ Revenue-ready MVP build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✓ First 3 Abu Dhabi pilots live</a:t>
            </a:r>
          </a:p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FDFDFB"/>
                </a:solidFill>
                <a:latin typeface="Calibri (MS)"/>
                <a:ea typeface="Calibri (MS)"/>
                <a:cs typeface="Calibri (MS)"/>
                <a:sym typeface="Calibri (MS)"/>
              </a:rPr>
              <a:t>✓ Initial paid conversions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000627" y="2608078"/>
            <a:ext cx="5798369" cy="6177029"/>
            <a:chOff x="0" y="0"/>
            <a:chExt cx="7731159" cy="8236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31146" cy="8235950"/>
            </a:xfrm>
            <a:custGeom>
              <a:avLst/>
              <a:gdLst/>
              <a:ahLst/>
              <a:cxnLst/>
              <a:rect r="r" b="b" t="t" l="l"/>
              <a:pathLst>
                <a:path h="8235950" w="7731146">
                  <a:moveTo>
                    <a:pt x="0" y="375158"/>
                  </a:moveTo>
                  <a:cubicBezTo>
                    <a:pt x="0" y="168021"/>
                    <a:pt x="173109" y="0"/>
                    <a:pt x="386518" y="0"/>
                  </a:cubicBezTo>
                  <a:lnTo>
                    <a:pt x="7344628" y="0"/>
                  </a:lnTo>
                  <a:cubicBezTo>
                    <a:pt x="7558168" y="0"/>
                    <a:pt x="7731146" y="168021"/>
                    <a:pt x="7731146" y="375158"/>
                  </a:cubicBezTo>
                  <a:lnTo>
                    <a:pt x="7731146" y="7860792"/>
                  </a:lnTo>
                  <a:cubicBezTo>
                    <a:pt x="7731146" y="8068056"/>
                    <a:pt x="7558037" y="8235950"/>
                    <a:pt x="7344628" y="8235950"/>
                  </a:cubicBezTo>
                  <a:lnTo>
                    <a:pt x="386518" y="8235950"/>
                  </a:lnTo>
                  <a:cubicBezTo>
                    <a:pt x="173109" y="8236077"/>
                    <a:pt x="0" y="8068056"/>
                    <a:pt x="0" y="786079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412431" y="2531878"/>
            <a:ext cx="4804353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of Funds Allocation (%)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52794" y="3840417"/>
            <a:ext cx="5307818" cy="5080988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 rot="0">
            <a:off x="12903117" y="2608078"/>
            <a:ext cx="4392549" cy="6177029"/>
            <a:chOff x="0" y="0"/>
            <a:chExt cx="5856732" cy="82360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6732" cy="8236077"/>
            </a:xfrm>
            <a:custGeom>
              <a:avLst/>
              <a:gdLst/>
              <a:ahLst/>
              <a:cxnLst/>
              <a:rect r="r" b="b" t="t" l="l"/>
              <a:pathLst>
                <a:path h="8236077" w="5856732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5563870" y="0"/>
                  </a:lnTo>
                  <a:cubicBezTo>
                    <a:pt x="5725541" y="0"/>
                    <a:pt x="5856732" y="131064"/>
                    <a:pt x="5856732" y="292862"/>
                  </a:cubicBezTo>
                  <a:lnTo>
                    <a:pt x="5856732" y="7943215"/>
                  </a:lnTo>
                  <a:cubicBezTo>
                    <a:pt x="5856732" y="8104886"/>
                    <a:pt x="5725668" y="8236077"/>
                    <a:pt x="5563870" y="8236077"/>
                  </a:cubicBezTo>
                  <a:lnTo>
                    <a:pt x="292862" y="8236077"/>
                  </a:lnTo>
                  <a:cubicBezTo>
                    <a:pt x="131064" y="8236077"/>
                    <a:pt x="0" y="8104886"/>
                    <a:pt x="0" y="794321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46284" y="2507485"/>
            <a:ext cx="3706216" cy="4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of Funds Table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46284" y="3443164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Build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17098" y="3443164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205k AED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246284" y="4282735"/>
            <a:ext cx="3706216" cy="13726"/>
            <a:chOff x="0" y="0"/>
            <a:chExt cx="4941621" cy="183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41570" cy="18288"/>
            </a:xfrm>
            <a:custGeom>
              <a:avLst/>
              <a:gdLst/>
              <a:ahLst/>
              <a:cxnLst/>
              <a:rect r="r" b="b" t="t" l="l"/>
              <a:pathLst>
                <a:path h="18288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246284" y="4294222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Founder Runway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717098" y="4294222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100k AED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246284" y="5133794"/>
            <a:ext cx="3706216" cy="13726"/>
            <a:chOff x="0" y="0"/>
            <a:chExt cx="4941621" cy="183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1570" cy="18288"/>
            </a:xfrm>
            <a:custGeom>
              <a:avLst/>
              <a:gdLst/>
              <a:ahLst/>
              <a:cxnLst/>
              <a:rect r="r" b="b" t="t" l="l"/>
              <a:pathLst>
                <a:path h="18288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3246284" y="5145281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Legal &amp; Setup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717098" y="5145281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45k AED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246284" y="5984853"/>
            <a:ext cx="3706216" cy="13726"/>
            <a:chOff x="0" y="0"/>
            <a:chExt cx="4941621" cy="1830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941570" cy="18288"/>
            </a:xfrm>
            <a:custGeom>
              <a:avLst/>
              <a:gdLst/>
              <a:ahLst/>
              <a:cxnLst/>
              <a:rect r="r" b="b" t="t" l="l"/>
              <a:pathLst>
                <a:path h="18288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246284" y="5996340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Pilots &amp; GTM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717098" y="5996340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40k AED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246284" y="6835912"/>
            <a:ext cx="3706216" cy="13726"/>
            <a:chOff x="0" y="0"/>
            <a:chExt cx="4941621" cy="1830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41570" cy="18288"/>
            </a:xfrm>
            <a:custGeom>
              <a:avLst/>
              <a:gdLst/>
              <a:ahLst/>
              <a:cxnLst/>
              <a:rect r="r" b="b" t="t" l="l"/>
              <a:pathLst>
                <a:path h="18288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246284" y="6847389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Cloud &amp; AI APIs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17098" y="6847389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35k AED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3246284" y="7686961"/>
            <a:ext cx="3706216" cy="13726"/>
            <a:chOff x="0" y="0"/>
            <a:chExt cx="4941621" cy="183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41570" cy="18288"/>
            </a:xfrm>
            <a:custGeom>
              <a:avLst/>
              <a:gdLst/>
              <a:ahLst/>
              <a:cxnLst/>
              <a:rect r="r" b="b" t="t" l="l"/>
              <a:pathLst>
                <a:path h="18288" w="4941570">
                  <a:moveTo>
                    <a:pt x="0" y="0"/>
                  </a:moveTo>
                  <a:lnTo>
                    <a:pt x="4941570" y="0"/>
                  </a:lnTo>
                  <a:lnTo>
                    <a:pt x="494157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5DD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3246284" y="7698448"/>
            <a:ext cx="2470814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Bridge Buffer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717098" y="7698448"/>
            <a:ext cx="1235402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6"/>
              </a:lnSpc>
            </a:pPr>
            <a:r>
              <a:rPr lang="en-US" sz="1800" b="true">
                <a:solidFill>
                  <a:srgbClr val="1323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75k AED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0872" y="9639243"/>
            <a:ext cx="16334804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1275" i="true">
                <a:solidFill>
                  <a:srgbClr val="4A55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Source/Verification: Hub71 Business Plan Section 10 (Use of Funds Table)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2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0814" y="-2470814"/>
            <a:ext cx="6863363" cy="6863363"/>
            <a:chOff x="0" y="0"/>
            <a:chExt cx="9151150" cy="9151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51112" cy="9151112"/>
            </a:xfrm>
            <a:custGeom>
              <a:avLst/>
              <a:gdLst/>
              <a:ahLst/>
              <a:cxnLst/>
              <a:rect r="r" b="b" t="t" l="l"/>
              <a:pathLst>
                <a:path h="9151112" w="9151112">
                  <a:moveTo>
                    <a:pt x="0" y="4575556"/>
                  </a:moveTo>
                  <a:cubicBezTo>
                    <a:pt x="0" y="2048510"/>
                    <a:pt x="2048510" y="0"/>
                    <a:pt x="4575556" y="0"/>
                  </a:cubicBezTo>
                  <a:cubicBezTo>
                    <a:pt x="7102602" y="0"/>
                    <a:pt x="9151112" y="2048510"/>
                    <a:pt x="9151112" y="4575556"/>
                  </a:cubicBezTo>
                  <a:cubicBezTo>
                    <a:pt x="9151112" y="7102602"/>
                    <a:pt x="7102602" y="9151112"/>
                    <a:pt x="4575556" y="9151112"/>
                  </a:cubicBezTo>
                  <a:cubicBezTo>
                    <a:pt x="2048510" y="9151112"/>
                    <a:pt x="0" y="7102602"/>
                    <a:pt x="0" y="4575556"/>
                  </a:cubicBezTo>
                  <a:close/>
                </a:path>
              </a:pathLst>
            </a:custGeom>
            <a:solidFill>
              <a:srgbClr val="9E8C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73931" y="6588824"/>
            <a:ext cx="5216157" cy="5216157"/>
            <a:chOff x="0" y="0"/>
            <a:chExt cx="6954876" cy="69548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4901" cy="6954901"/>
            </a:xfrm>
            <a:custGeom>
              <a:avLst/>
              <a:gdLst/>
              <a:ahLst/>
              <a:cxnLst/>
              <a:rect r="r" b="b" t="t" l="l"/>
              <a:pathLst>
                <a:path h="6954901" w="6954901">
                  <a:moveTo>
                    <a:pt x="0" y="3477387"/>
                  </a:moveTo>
                  <a:cubicBezTo>
                    <a:pt x="0" y="1556893"/>
                    <a:pt x="1556893" y="0"/>
                    <a:pt x="3477387" y="0"/>
                  </a:cubicBezTo>
                  <a:cubicBezTo>
                    <a:pt x="5397881" y="0"/>
                    <a:pt x="6954901" y="1556893"/>
                    <a:pt x="6954901" y="3477387"/>
                  </a:cubicBezTo>
                  <a:cubicBezTo>
                    <a:pt x="6954901" y="5397881"/>
                    <a:pt x="5398008" y="6954901"/>
                    <a:pt x="3477387" y="6954901"/>
                  </a:cubicBezTo>
                  <a:cubicBezTo>
                    <a:pt x="1556766" y="6954901"/>
                    <a:pt x="0" y="5398008"/>
                    <a:pt x="0" y="3477387"/>
                  </a:cubicBezTo>
                  <a:close/>
                </a:path>
              </a:pathLst>
            </a:custGeom>
            <a:solidFill>
              <a:srgbClr val="FAABA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175934"/>
            <a:ext cx="1629537" cy="1647206"/>
            <a:chOff x="0" y="0"/>
            <a:chExt cx="2172716" cy="2196274"/>
          </a:xfrm>
        </p:grpSpPr>
        <p:sp>
          <p:nvSpPr>
            <p:cNvPr name="Freeform 7" id="7" descr="Logo-BlueBackground.jpg"/>
            <p:cNvSpPr/>
            <p:nvPr/>
          </p:nvSpPr>
          <p:spPr>
            <a:xfrm flipH="false" flipV="false" rot="0">
              <a:off x="0" y="0"/>
              <a:ext cx="2172716" cy="2196338"/>
            </a:xfrm>
            <a:custGeom>
              <a:avLst/>
              <a:gdLst/>
              <a:ahLst/>
              <a:cxnLst/>
              <a:rect r="r" b="b" t="t" l="l"/>
              <a:pathLst>
                <a:path h="2196338" w="2172716">
                  <a:moveTo>
                    <a:pt x="0" y="0"/>
                  </a:moveTo>
                  <a:lnTo>
                    <a:pt x="2172716" y="0"/>
                  </a:lnTo>
                  <a:lnTo>
                    <a:pt x="2172716" y="2196338"/>
                  </a:lnTo>
                  <a:lnTo>
                    <a:pt x="0" y="2196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38721" y="842559"/>
            <a:ext cx="1098138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9"/>
              </a:lnSpc>
            </a:pPr>
            <a:r>
              <a:rPr lang="en-US" sz="9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OVIFY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7344" y="4112409"/>
            <a:ext cx="13388391" cy="184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sz="33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"Our vision is to build the regional standard for digital IVF patient adherence, making the UAE the global benchmark for how patients are supported through their fertility journey."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9343" y="6503099"/>
            <a:ext cx="15785735" cy="772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702" b="true">
                <a:solidFill>
                  <a:srgbClr val="FAABA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Let's build it from Abu Dhabi.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5402" y="7549696"/>
            <a:ext cx="15785735" cy="1647206"/>
            <a:chOff x="0" y="0"/>
            <a:chExt cx="21047646" cy="2196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47711" cy="2196338"/>
            </a:xfrm>
            <a:custGeom>
              <a:avLst/>
              <a:gdLst/>
              <a:ahLst/>
              <a:cxnLst/>
              <a:rect r="r" b="b" t="t" l="l"/>
              <a:pathLst>
                <a:path h="2196338" w="21047711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0937855" y="0"/>
                  </a:lnTo>
                  <a:cubicBezTo>
                    <a:pt x="20998562" y="0"/>
                    <a:pt x="21047711" y="49149"/>
                    <a:pt x="21047711" y="109855"/>
                  </a:cubicBezTo>
                  <a:lnTo>
                    <a:pt x="21047711" y="2086483"/>
                  </a:lnTo>
                  <a:cubicBezTo>
                    <a:pt x="21047711" y="2147189"/>
                    <a:pt x="20998562" y="2196338"/>
                    <a:pt x="20937855" y="2196338"/>
                  </a:cubicBezTo>
                  <a:lnTo>
                    <a:pt x="109855" y="2196338"/>
                  </a:lnTo>
                  <a:cubicBezTo>
                    <a:pt x="49149" y="2196338"/>
                    <a:pt x="0" y="2147189"/>
                    <a:pt x="0" y="2086483"/>
                  </a:cubicBezTo>
                  <a:close/>
                </a:path>
              </a:pathLst>
            </a:custGeom>
            <a:solidFill>
              <a:srgbClr val="09122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15843" y="7698448"/>
            <a:ext cx="14824862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Samaneh Khaleghi  ·  Founder &amp; CEO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5843" y="8119777"/>
            <a:ext cx="14824862" cy="28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1599">
                <a:solidFill>
                  <a:srgbClr val="9E8CEF"/>
                </a:solidFill>
                <a:latin typeface="Calibri (MS)"/>
                <a:ea typeface="Calibri (MS)"/>
                <a:cs typeface="Calibri (MS)"/>
                <a:sym typeface="Calibri (MS)"/>
              </a:rPr>
              <a:t>Email: sama.khaleghi@gmail.com   |   Web: www.ovify.com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5843" y="8531581"/>
            <a:ext cx="14824862" cy="28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sz="1599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Abu Dhabi Global Market (ADGM)  ·  Hub71 Initiate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85735" y="9639243"/>
            <a:ext cx="1509941" cy="449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4"/>
              </a:lnSpc>
            </a:pPr>
            <a:r>
              <a:rPr lang="en-US" sz="1275">
                <a:solidFill>
                  <a:srgbClr val="4A5568"/>
                </a:solidFill>
                <a:latin typeface="Calibri (MS)"/>
                <a:ea typeface="Calibri (MS)"/>
                <a:cs typeface="Calibri (MS)"/>
                <a:sym typeface="Calibri (MS)"/>
              </a:rPr>
              <a:t>OVIFY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DAHNHGep_T8</dc:identifier>
  <dcterms:modified xsi:type="dcterms:W3CDTF">2011-08-01T06:04:30Z</dcterms:modified>
  <cp:revision>1</cp:revision>
  <dc:title>Ovify_Pitch_Deck.pptx</dc:title>
</cp:coreProperties>
</file>